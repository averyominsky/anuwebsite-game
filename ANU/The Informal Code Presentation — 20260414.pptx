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8" r:id="rId5"/>
  </p:sldMasterIdLst>
  <p:notesMasterIdLst>
    <p:notesMasterId r:id="rId29"/>
  </p:notesMasterIdLst>
  <p:sldIdLst>
    <p:sldId id="256" r:id="rId6"/>
    <p:sldId id="276" r:id="rId7"/>
    <p:sldId id="277" r:id="rId8"/>
    <p:sldId id="257" r:id="rId9"/>
    <p:sldId id="259" r:id="rId10"/>
    <p:sldId id="260" r:id="rId11"/>
    <p:sldId id="261" r:id="rId12"/>
    <p:sldId id="262" r:id="rId13"/>
    <p:sldId id="264" r:id="rId14"/>
    <p:sldId id="265" r:id="rId15"/>
    <p:sldId id="266" r:id="rId16"/>
    <p:sldId id="267" r:id="rId17"/>
    <p:sldId id="268" r:id="rId18"/>
    <p:sldId id="269" r:id="rId19"/>
    <p:sldId id="270" r:id="rId20"/>
    <p:sldId id="271" r:id="rId21"/>
    <p:sldId id="272" r:id="rId22"/>
    <p:sldId id="263" r:id="rId23"/>
    <p:sldId id="273" r:id="rId24"/>
    <p:sldId id="274" r:id="rId25"/>
    <p:sldId id="275" r:id="rId26"/>
    <p:sldId id="278" r:id="rId27"/>
    <p:sldId id="25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14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904" autoAdjust="0"/>
  </p:normalViewPr>
  <p:slideViewPr>
    <p:cSldViewPr snapToGrid="0" showGuides="1">
      <p:cViewPr varScale="1">
        <p:scale>
          <a:sx n="119" d="100"/>
          <a:sy n="119" d="100"/>
        </p:scale>
        <p:origin x="832"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9836C-1B08-B646-AB85-767DC25B99FC}" type="datetimeFigureOut">
              <a:rPr lang="en-US" smtClean="0"/>
              <a:t>6/9/26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3A57D1-58C2-3148-AD25-5A36EE923FC1}" type="slidenum">
              <a:rPr lang="en-US" smtClean="0"/>
              <a:t>‹#›</a:t>
            </a:fld>
            <a:endParaRPr lang="en-US"/>
          </a:p>
        </p:txBody>
      </p:sp>
    </p:spTree>
    <p:extLst>
      <p:ext uri="{BB962C8B-B14F-4D97-AF65-F5344CB8AC3E}">
        <p14:creationId xmlns:p14="http://schemas.microsoft.com/office/powerpoint/2010/main" val="3272768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3A57D1-58C2-3148-AD25-5A36EE923FC1}" type="slidenum">
              <a:rPr lang="en-US" smtClean="0"/>
              <a:t>23</a:t>
            </a:fld>
            <a:endParaRPr lang="en-US"/>
          </a:p>
        </p:txBody>
      </p:sp>
    </p:spTree>
    <p:extLst>
      <p:ext uri="{BB962C8B-B14F-4D97-AF65-F5344CB8AC3E}">
        <p14:creationId xmlns:p14="http://schemas.microsoft.com/office/powerpoint/2010/main" val="2908304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4891216" y="6315161"/>
            <a:ext cx="2743200" cy="365125"/>
          </a:xfrm>
        </p:spPr>
        <p:txBody>
          <a:bodyPr/>
          <a:lstStyle>
            <a:lvl1pPr algn="ctr">
              <a:defRPr>
                <a:solidFill>
                  <a:srgbClr val="2814FF"/>
                </a:solidFill>
              </a:defRPr>
            </a:lvl1pPr>
          </a:lstStyle>
          <a:p>
            <a:fld id="{E4794D96-2317-4FEE-8AFB-2BDA095B95A8}" type="datetimeFigureOut">
              <a:rPr lang="en-US" smtClean="0"/>
              <a:pPr/>
              <a:t>6/9/26</a:t>
            </a:fld>
            <a:endParaRPr lang="en-US" dirty="0"/>
          </a:p>
        </p:txBody>
      </p:sp>
    </p:spTree>
    <p:extLst>
      <p:ext uri="{BB962C8B-B14F-4D97-AF65-F5344CB8AC3E}">
        <p14:creationId xmlns:p14="http://schemas.microsoft.com/office/powerpoint/2010/main" val="48445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2155139"/>
            <a:ext cx="10515600" cy="4286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542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rgbClr val="2814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16514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6575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4"/>
            <a:ext cx="5181600" cy="46575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488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7547"/>
            <a:ext cx="10515600" cy="1430723"/>
          </a:xfrm>
        </p:spPr>
        <p:txBody>
          <a:bodyPr>
            <a:normAutofit/>
          </a:bodyPr>
          <a:lstStyle>
            <a:lvl1pPr>
              <a:defRPr sz="3600" b="1"/>
            </a:lvl1pPr>
          </a:lstStyle>
          <a:p>
            <a:r>
              <a:rPr lang="en-US"/>
              <a:t>Click to edit Master title style</a:t>
            </a:r>
            <a:endParaRPr lang="en-US" dirty="0"/>
          </a:p>
        </p:txBody>
      </p:sp>
      <p:sp>
        <p:nvSpPr>
          <p:cNvPr id="3" name="Text Placeholder 2"/>
          <p:cNvSpPr>
            <a:spLocks noGrp="1"/>
          </p:cNvSpPr>
          <p:nvPr>
            <p:ph type="body" idx="1"/>
          </p:nvPr>
        </p:nvSpPr>
        <p:spPr>
          <a:xfrm>
            <a:off x="839788" y="2163402"/>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3098207"/>
            <a:ext cx="5157787" cy="3525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2163402"/>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98207"/>
            <a:ext cx="5183188" cy="3525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081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56977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4794D96-2317-4FEE-8AFB-2BDA095B95A8}" type="datetimeFigureOut">
              <a:rPr lang="en-US" smtClean="0"/>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C2535B-F4BF-4146-BD5B-402C4E290347}" type="slidenum">
              <a:rPr lang="en-US" smtClean="0"/>
              <a:t>‹#›</a:t>
            </a:fld>
            <a:endParaRPr lang="en-US"/>
          </a:p>
        </p:txBody>
      </p:sp>
    </p:spTree>
    <p:extLst>
      <p:ext uri="{BB962C8B-B14F-4D97-AF65-F5344CB8AC3E}">
        <p14:creationId xmlns:p14="http://schemas.microsoft.com/office/powerpoint/2010/main" val="5456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23151" y="630194"/>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881448" y="1275749"/>
            <a:ext cx="6172200" cy="505249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423150" y="2516659"/>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758005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794D96-2317-4FEE-8AFB-2BDA095B95A8}" type="datetimeFigureOut">
              <a:rPr lang="en-US" smtClean="0"/>
              <a:t>6/9/26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C2535B-F4BF-4146-BD5B-402C4E290347}" type="slidenum">
              <a:rPr lang="en-US" smtClean="0"/>
              <a:t>‹#›</a:t>
            </a:fld>
            <a:endParaRPr lang="en-US"/>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930" y="1"/>
            <a:ext cx="12177070" cy="6858000"/>
          </a:xfrm>
          <a:prstGeom prst="rect">
            <a:avLst/>
          </a:prstGeom>
        </p:spPr>
      </p:pic>
      <p:sp>
        <p:nvSpPr>
          <p:cNvPr id="6" name="מלבן 4"/>
          <p:cNvSpPr/>
          <p:nvPr userDrawn="1"/>
        </p:nvSpPr>
        <p:spPr>
          <a:xfrm>
            <a:off x="4038600" y="2415620"/>
            <a:ext cx="3678198" cy="2026762"/>
          </a:xfrm>
          <a:prstGeom prst="rect">
            <a:avLst/>
          </a:prstGeom>
          <a:solidFill>
            <a:srgbClr val="281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userDrawn="1"/>
        </p:nvSpPr>
        <p:spPr>
          <a:xfrm>
            <a:off x="14930" y="2710151"/>
            <a:ext cx="12177070" cy="1200329"/>
          </a:xfrm>
          <a:prstGeom prst="rect">
            <a:avLst/>
          </a:prstGeom>
          <a:noFill/>
        </p:spPr>
        <p:txBody>
          <a:bodyPr wrap="square" rtlCol="0">
            <a:spAutoFit/>
          </a:bodyPr>
          <a:lstStyle/>
          <a:p>
            <a:pPr algn="ctr"/>
            <a:r>
              <a:rPr lang="he-IL" sz="6600" dirty="0">
                <a:solidFill>
                  <a:schemeClr val="bg2"/>
                </a:solidFill>
                <a:latin typeface="Anomalia ML v2 AAA" panose="00000500000000000000" pitchFamily="50" charset="-79"/>
              </a:rPr>
              <a:t>תודה!</a:t>
            </a:r>
            <a:r>
              <a:rPr lang="en-US" sz="6600" dirty="0">
                <a:solidFill>
                  <a:srgbClr val="2814FF"/>
                </a:solidFill>
                <a:latin typeface="Anomalia ML v2 AAA" panose="00000500000000000000" pitchFamily="50" charset="-79"/>
              </a:rPr>
              <a:t> </a:t>
            </a:r>
            <a:r>
              <a:rPr lang="he-IL" sz="5400" dirty="0">
                <a:solidFill>
                  <a:srgbClr val="2814FF"/>
                </a:solidFill>
                <a:latin typeface="Anomalia ML v2 AAA" panose="00000500000000000000" pitchFamily="50" charset="-79"/>
                <a:cs typeface="Anomalia ML v2 AAA" panose="00000500000000000000" pitchFamily="50" charset="-79"/>
              </a:rPr>
              <a:t>!</a:t>
            </a:r>
            <a:r>
              <a:rPr lang="en-US" sz="7200" dirty="0">
                <a:solidFill>
                  <a:srgbClr val="2814FF"/>
                </a:solidFill>
                <a:latin typeface="Anomalia ML v2 AAA" panose="00000500000000000000" pitchFamily="50" charset="-79"/>
                <a:cs typeface="Anomalia ML v2 AAA" panose="00000500000000000000" pitchFamily="50" charset="-79"/>
              </a:rPr>
              <a:t> </a:t>
            </a:r>
          </a:p>
        </p:txBody>
      </p:sp>
    </p:spTree>
    <p:extLst>
      <p:ext uri="{BB962C8B-B14F-4D97-AF65-F5344CB8AC3E}">
        <p14:creationId xmlns:p14="http://schemas.microsoft.com/office/powerpoint/2010/main" val="1412749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US"/>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a:p>
        </p:txBody>
      </p:sp>
      <p:sp>
        <p:nvSpPr>
          <p:cNvPr id="4" name="מציין מיקום של תאריך 3"/>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61391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03701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US"/>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831154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5" name="מציין מיקום של תאריך 4"/>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07138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US"/>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7" name="מציין מיקום של תאריך 6"/>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91918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של תאריך 2"/>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860581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9486756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4536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57492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48970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US"/>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718402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93503"/>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155139"/>
            <a:ext cx="10515600" cy="401500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794D96-2317-4FEE-8AFB-2BDA095B95A8}" type="datetimeFigureOut">
              <a:rPr lang="en-US" smtClean="0"/>
              <a:t>6/9/26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C2535B-F4BF-4146-BD5B-402C4E290347}" type="slidenum">
              <a:rPr lang="en-US" smtClean="0"/>
              <a:t>‹#›</a:t>
            </a:fld>
            <a:endParaRPr lang="en-US"/>
          </a:p>
        </p:txBody>
      </p:sp>
      <p:sp>
        <p:nvSpPr>
          <p:cNvPr id="7" name="Rectangle 6"/>
          <p:cNvSpPr/>
          <p:nvPr userDrawn="1"/>
        </p:nvSpPr>
        <p:spPr>
          <a:xfrm>
            <a:off x="-1" y="0"/>
            <a:ext cx="12192001" cy="593889"/>
          </a:xfrm>
          <a:prstGeom prst="rect">
            <a:avLst/>
          </a:prstGeom>
          <a:solidFill>
            <a:srgbClr val="2814FF"/>
          </a:solidFill>
          <a:ln w="12700" cap="flat" cmpd="sng" algn="ctr">
            <a:noFill/>
            <a:prstDash val="solid"/>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pic>
        <p:nvPicPr>
          <p:cNvPr id="8" name="Picture 7"/>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 y="1"/>
            <a:ext cx="2516958" cy="593502"/>
          </a:xfrm>
          <a:prstGeom prst="rect">
            <a:avLst/>
          </a:prstGeom>
        </p:spPr>
      </p:pic>
    </p:spTree>
    <p:extLst>
      <p:ext uri="{BB962C8B-B14F-4D97-AF65-F5344CB8AC3E}">
        <p14:creationId xmlns:p14="http://schemas.microsoft.com/office/powerpoint/2010/main" val="2135423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5" r:id="rId9"/>
  </p:sldLayoutIdLst>
  <p:txStyles>
    <p:titleStyle>
      <a:lvl1pPr algn="r" defTabSz="914400" rtl="0" eaLnBrk="1" latinLnBrk="0" hangingPunct="1">
        <a:lnSpc>
          <a:spcPct val="90000"/>
        </a:lnSpc>
        <a:spcBef>
          <a:spcPct val="0"/>
        </a:spcBef>
        <a:buNone/>
        <a:defRPr sz="4400" kern="1200">
          <a:solidFill>
            <a:srgbClr val="2814FF"/>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rgbClr val="2814FF"/>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rgbClr val="2814FF"/>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rgbClr val="2814FF"/>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rgbClr val="2814FF"/>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rgbClr val="2814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US"/>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FF0E4406-A75E-425B-B1D1-8529DB31177B}"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כ"ד.סיון.תשפ"ו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C640A202-F8D3-47FC-9932-3AA262150CA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63264366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3447" y="639995"/>
            <a:ext cx="9345105" cy="896796"/>
          </a:xfrm>
        </p:spPr>
        <p:txBody>
          <a:bodyPr>
            <a:normAutofit/>
          </a:bodyPr>
          <a:lstStyle/>
          <a:p>
            <a:r>
              <a:rPr lang="en-US" sz="4400" b="1" dirty="0"/>
              <a:t>The Informal Code and Key Experiences</a:t>
            </a:r>
            <a:endParaRPr lang="en-US" sz="4400" b="1" dirty="0">
              <a:latin typeface="Anomalia v2 AAA Medium" panose="00000600000000000000" pitchFamily="50" charset="-79"/>
              <a:cs typeface="Anomalia v2 AAA Medium" panose="00000600000000000000" pitchFamily="50" charset="-79"/>
            </a:endParaRPr>
          </a:p>
        </p:txBody>
      </p:sp>
      <p:sp>
        <p:nvSpPr>
          <p:cNvPr id="3" name="Subtitle 2"/>
          <p:cNvSpPr>
            <a:spLocks noGrp="1"/>
          </p:cNvSpPr>
          <p:nvPr>
            <p:ph type="subTitle" idx="1"/>
          </p:nvPr>
        </p:nvSpPr>
        <p:spPr>
          <a:xfrm>
            <a:off x="4157219" y="1448860"/>
            <a:ext cx="3877559" cy="536329"/>
          </a:xfrm>
        </p:spPr>
        <p:txBody>
          <a:bodyPr/>
          <a:lstStyle/>
          <a:p>
            <a:r>
              <a:rPr lang="en-US" dirty="0"/>
              <a:t>Naming the Intuitions</a:t>
            </a:r>
            <a:endParaRPr lang="en-US" dirty="0">
              <a:latin typeface="Anomalia ML v2 AAA" panose="00000500000000000000" pitchFamily="50" charset="-79"/>
              <a:cs typeface="Anomalia ML v2 AAA" panose="00000500000000000000" pitchFamily="50" charset="-79"/>
            </a:endParaRPr>
          </a:p>
        </p:txBody>
      </p:sp>
      <p:sp>
        <p:nvSpPr>
          <p:cNvPr id="4" name="TextBox 3"/>
          <p:cNvSpPr txBox="1"/>
          <p:nvPr/>
        </p:nvSpPr>
        <p:spPr>
          <a:xfrm>
            <a:off x="3631019" y="5571674"/>
            <a:ext cx="5446994" cy="646331"/>
          </a:xfrm>
          <a:prstGeom prst="rect">
            <a:avLst/>
          </a:prstGeom>
          <a:noFill/>
        </p:spPr>
        <p:txBody>
          <a:bodyPr wrap="square" rtlCol="0">
            <a:spAutoFit/>
          </a:bodyPr>
          <a:lstStyle/>
          <a:p>
            <a:pPr algn="ctr"/>
            <a:r>
              <a:rPr lang="en-US" dirty="0">
                <a:solidFill>
                  <a:srgbClr val="2814FF"/>
                </a:solidFill>
              </a:rPr>
              <a:t>Koret International School for Jewish People's Studies </a:t>
            </a:r>
          </a:p>
          <a:p>
            <a:pPr algn="ctr"/>
            <a:r>
              <a:rPr lang="en-US" dirty="0">
                <a:solidFill>
                  <a:srgbClr val="2814FF"/>
                </a:solidFill>
              </a:rPr>
              <a:t>ANU – Museum of the Jewish People</a:t>
            </a:r>
          </a:p>
        </p:txBody>
      </p:sp>
      <p:pic>
        <p:nvPicPr>
          <p:cNvPr id="7" name="תמונה 6">
            <a:extLst>
              <a:ext uri="{FF2B5EF4-FFF2-40B4-BE49-F238E27FC236}">
                <a16:creationId xmlns:a16="http://schemas.microsoft.com/office/drawing/2014/main" id="{196D7FEA-C47E-489E-8CE9-594EECDE0900}"/>
              </a:ext>
            </a:extLst>
          </p:cNvPr>
          <p:cNvPicPr>
            <a:picLocks noChangeAspect="1"/>
          </p:cNvPicPr>
          <p:nvPr/>
        </p:nvPicPr>
        <p:blipFill>
          <a:blip r:embed="rId2"/>
          <a:stretch>
            <a:fillRect/>
          </a:stretch>
        </p:blipFill>
        <p:spPr>
          <a:xfrm>
            <a:off x="6617615" y="2054251"/>
            <a:ext cx="4722829" cy="3143633"/>
          </a:xfrm>
          <a:prstGeom prst="rect">
            <a:avLst/>
          </a:prstGeom>
        </p:spPr>
      </p:pic>
      <p:pic>
        <p:nvPicPr>
          <p:cNvPr id="8" name="תמונה 7">
            <a:extLst>
              <a:ext uri="{FF2B5EF4-FFF2-40B4-BE49-F238E27FC236}">
                <a16:creationId xmlns:a16="http://schemas.microsoft.com/office/drawing/2014/main" id="{5AA81C82-7C42-42D9-8523-3FEA04456B31}"/>
              </a:ext>
            </a:extLst>
          </p:cNvPr>
          <p:cNvPicPr>
            <a:picLocks noChangeAspect="1"/>
          </p:cNvPicPr>
          <p:nvPr/>
        </p:nvPicPr>
        <p:blipFill>
          <a:blip r:embed="rId3"/>
          <a:stretch>
            <a:fillRect/>
          </a:stretch>
        </p:blipFill>
        <p:spPr>
          <a:xfrm>
            <a:off x="507317" y="2054251"/>
            <a:ext cx="5588683" cy="3143634"/>
          </a:xfrm>
          <a:prstGeom prst="rect">
            <a:avLst/>
          </a:prstGeom>
        </p:spPr>
      </p:pic>
    </p:spTree>
    <p:extLst>
      <p:ext uri="{BB962C8B-B14F-4D97-AF65-F5344CB8AC3E}">
        <p14:creationId xmlns:p14="http://schemas.microsoft.com/office/powerpoint/2010/main" val="2125396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0343" y="834598"/>
            <a:ext cx="8711313" cy="655266"/>
          </a:xfrm>
        </p:spPr>
        <p:txBody>
          <a:bodyPr>
            <a:normAutofit fontScale="90000"/>
          </a:bodyPr>
          <a:lstStyle/>
          <a:p>
            <a:pPr algn="ctr"/>
            <a:r>
              <a:rPr lang="en-US" sz="5400" dirty="0"/>
              <a:t>Opening Question</a:t>
            </a:r>
            <a:endParaRPr lang="en-US" sz="5400" dirty="0">
              <a:latin typeface="Anomalia v2 AAA Medium" panose="00000600000000000000" pitchFamily="50" charset="-79"/>
              <a:cs typeface="Anomalia v2 AAA Medium" panose="00000600000000000000" pitchFamily="50" charset="-79"/>
            </a:endParaRPr>
          </a:p>
        </p:txBody>
      </p:sp>
      <p:sp>
        <p:nvSpPr>
          <p:cNvPr id="3" name="מלבן 2">
            <a:extLst>
              <a:ext uri="{FF2B5EF4-FFF2-40B4-BE49-F238E27FC236}">
                <a16:creationId xmlns:a16="http://schemas.microsoft.com/office/drawing/2014/main" id="{960EEF64-88DF-47A0-97B7-674DAB24F074}"/>
              </a:ext>
            </a:extLst>
          </p:cNvPr>
          <p:cNvSpPr/>
          <p:nvPr/>
        </p:nvSpPr>
        <p:spPr>
          <a:xfrm>
            <a:off x="5937313" y="3286582"/>
            <a:ext cx="6595346" cy="2414972"/>
          </a:xfrm>
          <a:prstGeom prst="rect">
            <a:avLst/>
          </a:prstGeom>
        </p:spPr>
        <p:txBody>
          <a:bodyPr vert="horz" lIns="91440" tIns="45720" rIns="91440" bIns="45720" rtlCol="0">
            <a:normAutofit/>
          </a:bodyPr>
          <a:lstStyle/>
          <a:p>
            <a:pPr rtl="1">
              <a:lnSpc>
                <a:spcPct val="90000"/>
              </a:lnSpc>
              <a:spcBef>
                <a:spcPts val="1000"/>
              </a:spcBef>
            </a:pPr>
            <a:r>
              <a:rPr lang="en-US" sz="3200" dirty="0"/>
              <a:t>Why did God choose Abraham specifically?</a:t>
            </a:r>
          </a:p>
        </p:txBody>
      </p:sp>
      <p:pic>
        <p:nvPicPr>
          <p:cNvPr id="4" name="תמונה 3">
            <a:extLst>
              <a:ext uri="{FF2B5EF4-FFF2-40B4-BE49-F238E27FC236}">
                <a16:creationId xmlns:a16="http://schemas.microsoft.com/office/drawing/2014/main" id="{387E06E8-530C-4629-B1F0-342163F6914D}"/>
              </a:ext>
            </a:extLst>
          </p:cNvPr>
          <p:cNvPicPr>
            <a:picLocks noChangeAspect="1"/>
          </p:cNvPicPr>
          <p:nvPr/>
        </p:nvPicPr>
        <p:blipFill>
          <a:blip r:embed="rId2"/>
          <a:stretch>
            <a:fillRect/>
          </a:stretch>
        </p:blipFill>
        <p:spPr>
          <a:xfrm>
            <a:off x="1275533" y="1633591"/>
            <a:ext cx="4226527" cy="4844376"/>
          </a:xfrm>
          <a:prstGeom prst="rect">
            <a:avLst/>
          </a:prstGeom>
        </p:spPr>
      </p:pic>
    </p:spTree>
    <p:extLst>
      <p:ext uri="{BB962C8B-B14F-4D97-AF65-F5344CB8AC3E}">
        <p14:creationId xmlns:p14="http://schemas.microsoft.com/office/powerpoint/2010/main" val="357868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0343" y="834598"/>
            <a:ext cx="8711313" cy="655266"/>
          </a:xfrm>
        </p:spPr>
        <p:txBody>
          <a:bodyPr>
            <a:normAutofit fontScale="90000"/>
          </a:bodyPr>
          <a:lstStyle/>
          <a:p>
            <a:pPr algn="ctr"/>
            <a:r>
              <a:rPr lang="en-US" sz="5400" dirty="0"/>
              <a:t>Strange Answer</a:t>
            </a:r>
            <a:endParaRPr lang="en-US" sz="5400" dirty="0">
              <a:latin typeface="Anomalia v2 AAA Medium" panose="00000600000000000000" pitchFamily="50" charset="-79"/>
              <a:cs typeface="Anomalia v2 AAA Medium" panose="00000600000000000000" pitchFamily="50" charset="-79"/>
            </a:endParaRPr>
          </a:p>
        </p:txBody>
      </p:sp>
      <p:sp>
        <p:nvSpPr>
          <p:cNvPr id="3" name="מלבן 2">
            <a:extLst>
              <a:ext uri="{FF2B5EF4-FFF2-40B4-BE49-F238E27FC236}">
                <a16:creationId xmlns:a16="http://schemas.microsoft.com/office/drawing/2014/main" id="{960EEF64-88DF-47A0-97B7-674DAB24F074}"/>
              </a:ext>
            </a:extLst>
          </p:cNvPr>
          <p:cNvSpPr/>
          <p:nvPr/>
        </p:nvSpPr>
        <p:spPr>
          <a:xfrm>
            <a:off x="5335972" y="1777427"/>
            <a:ext cx="6132444" cy="4720975"/>
          </a:xfrm>
          <a:prstGeom prst="rect">
            <a:avLst/>
          </a:prstGeom>
        </p:spPr>
        <p:txBody>
          <a:bodyPr vert="horz" lIns="91440" tIns="45720" rIns="91440" bIns="45720" rtlCol="0">
            <a:normAutofit fontScale="85000" lnSpcReduction="20000"/>
          </a:bodyPr>
          <a:lstStyle/>
          <a:p>
            <a:pPr rtl="1">
              <a:lnSpc>
                <a:spcPct val="90000"/>
              </a:lnSpc>
              <a:spcBef>
                <a:spcPts val="1000"/>
              </a:spcBef>
            </a:pPr>
            <a:r>
              <a:rPr lang="en-US" sz="3200" dirty="0"/>
              <a:t>"And when Abraham came and looked, saw, investigated, understood, engraved, hewed, combined, and formed, and it succeeded for him — the Master of All revealed Himself to him, took him to His bosom, kissed him on his head, called him His beloved, named him after His own name, and made a covenant with him and with his descendants forever." </a:t>
            </a:r>
          </a:p>
          <a:p>
            <a:pPr rtl="1">
              <a:lnSpc>
                <a:spcPct val="90000"/>
              </a:lnSpc>
              <a:spcBef>
                <a:spcPts val="1000"/>
              </a:spcBef>
            </a:pPr>
            <a:r>
              <a:rPr lang="en-US" sz="3200" dirty="0"/>
              <a:t>(Sefer Yetzirah, 6:8)</a:t>
            </a:r>
            <a:endParaRPr lang="he-IL" sz="3200" dirty="0">
              <a:latin typeface="Anomalia v2 AAA Medium" panose="00000600000000000000" pitchFamily="50" charset="-79"/>
              <a:cs typeface="Anomalia v2 AAA Medium" panose="00000600000000000000" pitchFamily="50" charset="-79"/>
            </a:endParaRPr>
          </a:p>
          <a:p>
            <a:pPr rtl="1">
              <a:lnSpc>
                <a:spcPct val="90000"/>
              </a:lnSpc>
              <a:spcBef>
                <a:spcPts val="1000"/>
              </a:spcBef>
            </a:pPr>
            <a:endParaRPr lang="he-IL" sz="3200" dirty="0">
              <a:latin typeface="Anomalia v2 AAA Medium" panose="00000600000000000000" pitchFamily="50" charset="-79"/>
              <a:cs typeface="Anomalia v2 AAA Medium" panose="00000600000000000000" pitchFamily="50" charset="-79"/>
            </a:endParaRPr>
          </a:p>
          <a:p>
            <a:pPr rtl="1">
              <a:lnSpc>
                <a:spcPct val="90000"/>
              </a:lnSpc>
              <a:spcBef>
                <a:spcPts val="1000"/>
              </a:spcBef>
            </a:pPr>
            <a:r>
              <a:rPr lang="en-US" sz="3200" b="1" dirty="0"/>
              <a:t>But how can we as educators make our students/youth curious like Abraham?</a:t>
            </a:r>
            <a:endParaRPr lang="he-IL" sz="3200" b="1" dirty="0">
              <a:latin typeface="Anomalia v2 AAA Medium" panose="00000600000000000000" pitchFamily="50" charset="-79"/>
              <a:cs typeface="Anomalia v2 AAA Medium" panose="00000600000000000000" pitchFamily="50" charset="-79"/>
            </a:endParaRPr>
          </a:p>
        </p:txBody>
      </p:sp>
      <p:pic>
        <p:nvPicPr>
          <p:cNvPr id="1026" name="Picture 2" descr="undefined">
            <a:extLst>
              <a:ext uri="{FF2B5EF4-FFF2-40B4-BE49-F238E27FC236}">
                <a16:creationId xmlns:a16="http://schemas.microsoft.com/office/drawing/2014/main" id="{DD3C07A3-D8E4-45E8-BA45-8FFD73374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2406" y="1777428"/>
            <a:ext cx="3898083" cy="472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942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1581" y="668807"/>
            <a:ext cx="4142591" cy="1078967"/>
          </a:xfrm>
        </p:spPr>
        <p:txBody>
          <a:bodyPr/>
          <a:lstStyle/>
          <a:p>
            <a:pPr algn="l"/>
            <a:r>
              <a:rPr lang="en-US" dirty="0"/>
              <a:t>A Little About Me</a:t>
            </a:r>
            <a:endParaRPr lang="en-US" dirty="0">
              <a:latin typeface="Anomalia v2 AAA Medium" panose="00000600000000000000" pitchFamily="50" charset="-79"/>
              <a:cs typeface="Anomalia v2 AAA Medium" panose="00000600000000000000" pitchFamily="50" charset="-79"/>
            </a:endParaRPr>
          </a:p>
        </p:txBody>
      </p:sp>
      <p:pic>
        <p:nvPicPr>
          <p:cNvPr id="6" name="תמונה 5">
            <a:extLst>
              <a:ext uri="{FF2B5EF4-FFF2-40B4-BE49-F238E27FC236}">
                <a16:creationId xmlns:a16="http://schemas.microsoft.com/office/drawing/2014/main" id="{2908AEB3-5DA0-441E-9BA7-1C9C63BFC85C}"/>
              </a:ext>
            </a:extLst>
          </p:cNvPr>
          <p:cNvPicPr>
            <a:picLocks noChangeAspect="1"/>
          </p:cNvPicPr>
          <p:nvPr/>
        </p:nvPicPr>
        <p:blipFill>
          <a:blip r:embed="rId2"/>
          <a:stretch>
            <a:fillRect/>
          </a:stretch>
        </p:blipFill>
        <p:spPr>
          <a:xfrm>
            <a:off x="3871715" y="1672470"/>
            <a:ext cx="4682324" cy="4682324"/>
          </a:xfrm>
          <a:prstGeom prst="rect">
            <a:avLst/>
          </a:prstGeom>
        </p:spPr>
      </p:pic>
    </p:spTree>
    <p:extLst>
      <p:ext uri="{BB962C8B-B14F-4D97-AF65-F5344CB8AC3E}">
        <p14:creationId xmlns:p14="http://schemas.microsoft.com/office/powerpoint/2010/main" val="42256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923"/>
            <a:ext cx="10515600" cy="3174153"/>
          </a:xfrm>
        </p:spPr>
        <p:txBody>
          <a:bodyPr>
            <a:normAutofit fontScale="90000"/>
          </a:bodyPr>
          <a:lstStyle/>
          <a:p>
            <a:pPr algn="ctr"/>
            <a:r>
              <a:rPr lang="en-US" sz="5400" dirty="0"/>
              <a:t>Who here was a member of a youth movement or youth organization? </a:t>
            </a:r>
            <a:br>
              <a:rPr lang="en-US" sz="5400" dirty="0"/>
            </a:br>
            <a:br>
              <a:rPr lang="en-US" sz="5400" dirty="0"/>
            </a:br>
            <a:r>
              <a:rPr lang="en-US" sz="5400" dirty="0"/>
              <a:t>What was your most meaningful experience there?</a:t>
            </a:r>
            <a:endParaRPr lang="en-US" sz="5400" dirty="0">
              <a:latin typeface="Anomalia v2 AAA Medium" panose="00000600000000000000" pitchFamily="50" charset="-79"/>
              <a:cs typeface="Anomalia v2 AAA Medium" panose="00000600000000000000" pitchFamily="50" charset="-79"/>
            </a:endParaRPr>
          </a:p>
        </p:txBody>
      </p:sp>
    </p:spTree>
    <p:extLst>
      <p:ext uri="{BB962C8B-B14F-4D97-AF65-F5344CB8AC3E}">
        <p14:creationId xmlns:p14="http://schemas.microsoft.com/office/powerpoint/2010/main" val="93164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00353" y="649003"/>
            <a:ext cx="10515600" cy="1325563"/>
          </a:xfrm>
        </p:spPr>
        <p:txBody>
          <a:bodyPr/>
          <a:lstStyle/>
          <a:p>
            <a:pPr algn="l"/>
            <a:r>
              <a:rPr lang="en-US" dirty="0">
                <a:latin typeface="Anomalia v2 AAA Medium" panose="00000600000000000000" pitchFamily="50" charset="-79"/>
                <a:cs typeface="Anomalia v2 AAA Medium" panose="00000600000000000000" pitchFamily="50" charset="-79"/>
              </a:rPr>
              <a:t>Youth</a:t>
            </a:r>
          </a:p>
        </p:txBody>
      </p:sp>
      <p:sp>
        <p:nvSpPr>
          <p:cNvPr id="10" name="מציין מיקום תוכן 2">
            <a:extLst>
              <a:ext uri="{FF2B5EF4-FFF2-40B4-BE49-F238E27FC236}">
                <a16:creationId xmlns:a16="http://schemas.microsoft.com/office/drawing/2014/main" id="{368A7957-00FE-4FD4-A7A5-8252AA904F31}"/>
              </a:ext>
            </a:extLst>
          </p:cNvPr>
          <p:cNvSpPr>
            <a:spLocks noGrp="1"/>
          </p:cNvSpPr>
          <p:nvPr>
            <p:ph idx="1"/>
          </p:nvPr>
        </p:nvSpPr>
        <p:spPr>
          <a:xfrm>
            <a:off x="6200353" y="1974566"/>
            <a:ext cx="5536240" cy="3678303"/>
          </a:xfrm>
        </p:spPr>
        <p:txBody>
          <a:bodyPr anchor="t">
            <a:normAutofit/>
          </a:bodyPr>
          <a:lstStyle/>
          <a:p>
            <a:pPr marL="0" indent="0" algn="l">
              <a:buNone/>
            </a:pPr>
            <a:r>
              <a:rPr lang="en-US" dirty="0"/>
              <a:t>"Only in modern societies can we identify a clear and comprehensive classification of youth. The category 'adult' is not a parallel category to 'youth,' but rather an entirely separate dimension or category. A 'adults' movement never developed in modern society.”</a:t>
            </a:r>
            <a:endParaRPr lang="en-US" dirty="0">
              <a:solidFill>
                <a:schemeClr val="tx1"/>
              </a:solidFill>
              <a:latin typeface="Anomalia ML v2 AAA" panose="00000500000000000000" pitchFamily="50" charset="-79"/>
              <a:cs typeface="Anomalia ML v2 AAA" panose="00000500000000000000" pitchFamily="50" charset="-79"/>
            </a:endParaRPr>
          </a:p>
          <a:p>
            <a:pPr marL="0" indent="0" algn="l">
              <a:buNone/>
            </a:pPr>
            <a:r>
              <a:rPr lang="en-US" dirty="0"/>
              <a:t>(Shmuel N. Eisenstadt)</a:t>
            </a:r>
            <a:endParaRPr lang="he-IL" dirty="0">
              <a:solidFill>
                <a:schemeClr val="tx1"/>
              </a:solidFill>
              <a:latin typeface="Anomalia ML v2 AAA" panose="00000500000000000000" pitchFamily="50" charset="-79"/>
              <a:cs typeface="Anomalia ML v2 AAA" panose="00000500000000000000" pitchFamily="50" charset="-79"/>
            </a:endParaRPr>
          </a:p>
        </p:txBody>
      </p:sp>
      <p:pic>
        <p:nvPicPr>
          <p:cNvPr id="11" name="תמונה 10">
            <a:extLst>
              <a:ext uri="{FF2B5EF4-FFF2-40B4-BE49-F238E27FC236}">
                <a16:creationId xmlns:a16="http://schemas.microsoft.com/office/drawing/2014/main" id="{9CA46797-234C-4D6D-8323-2DD6E888CBD0}"/>
              </a:ext>
            </a:extLst>
          </p:cNvPr>
          <p:cNvPicPr>
            <a:picLocks noChangeAspect="1"/>
          </p:cNvPicPr>
          <p:nvPr/>
        </p:nvPicPr>
        <p:blipFill>
          <a:blip r:embed="rId2"/>
          <a:stretch>
            <a:fillRect/>
          </a:stretch>
        </p:blipFill>
        <p:spPr>
          <a:xfrm>
            <a:off x="1480008" y="1311785"/>
            <a:ext cx="3902697" cy="4722441"/>
          </a:xfrm>
          <a:prstGeom prst="rect">
            <a:avLst/>
          </a:prstGeom>
        </p:spPr>
      </p:pic>
    </p:spTree>
    <p:extLst>
      <p:ext uri="{BB962C8B-B14F-4D97-AF65-F5344CB8AC3E}">
        <p14:creationId xmlns:p14="http://schemas.microsoft.com/office/powerpoint/2010/main" val="2206078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4921" y="457200"/>
            <a:ext cx="7402158" cy="1325563"/>
          </a:xfrm>
        </p:spPr>
        <p:txBody>
          <a:bodyPr/>
          <a:lstStyle/>
          <a:p>
            <a:pPr algn="l"/>
            <a:r>
              <a:rPr lang="en-US" dirty="0">
                <a:latin typeface="Anomalia v2 AAA Medium" panose="00000600000000000000" pitchFamily="50" charset="-79"/>
                <a:cs typeface="Anomalia v2 AAA Medium" panose="00000600000000000000" pitchFamily="50" charset="-79"/>
              </a:rPr>
              <a:t>Wandervogel</a:t>
            </a:r>
            <a:r>
              <a:rPr lang="en-US" dirty="0"/>
              <a:t> - Wandering Bird </a:t>
            </a:r>
            <a:endParaRPr lang="en-US" dirty="0">
              <a:latin typeface="Anomalia v2 AAA Medium" panose="00000600000000000000" pitchFamily="50" charset="-79"/>
              <a:cs typeface="Anomalia v2 AAA Medium" panose="00000600000000000000" pitchFamily="50" charset="-79"/>
            </a:endParaRPr>
          </a:p>
        </p:txBody>
      </p:sp>
      <p:pic>
        <p:nvPicPr>
          <p:cNvPr id="1028" name="Picture 4" descr="Wandervogel - Wikipedia">
            <a:extLst>
              <a:ext uri="{FF2B5EF4-FFF2-40B4-BE49-F238E27FC236}">
                <a16:creationId xmlns:a16="http://schemas.microsoft.com/office/drawing/2014/main" id="{2E9F0D62-3B84-428C-B936-46A4FD086D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481" y="1782763"/>
            <a:ext cx="5795720" cy="38487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D82CF46-2D25-491A-B99F-AAC36B7B597B}"/>
              </a:ext>
            </a:extLst>
          </p:cNvPr>
          <p:cNvSpPr txBox="1"/>
          <p:nvPr/>
        </p:nvSpPr>
        <p:spPr>
          <a:xfrm>
            <a:off x="6411558" y="1702225"/>
            <a:ext cx="5475642" cy="4859940"/>
          </a:xfrm>
          <a:prstGeom prst="rect">
            <a:avLst/>
          </a:prstGeom>
        </p:spPr>
        <p:txBody>
          <a:bodyPr vert="horz" lIns="91440" tIns="45720" rIns="91440" bIns="45720" rtlCol="0" anchor="t">
            <a:normAutofit/>
          </a:bodyPr>
          <a:lstStyle>
            <a:lvl1pPr indent="0" algn="r" rtl="1">
              <a:lnSpc>
                <a:spcPct val="90000"/>
              </a:lnSpc>
              <a:spcBef>
                <a:spcPts val="1000"/>
              </a:spcBef>
              <a:buFont typeface="Arial" panose="020B0604020202020204" pitchFamily="34" charset="0"/>
              <a:buNone/>
              <a:defRPr sz="2800">
                <a:latin typeface="Anomalia ML v2 AAA" panose="00000500000000000000" pitchFamily="50" charset="-79"/>
                <a:cs typeface="Anomalia ML v2 AAA" panose="00000500000000000000" pitchFamily="50" charset="-79"/>
              </a:defRPr>
            </a:lvl1pPr>
            <a:lvl2pPr marL="685800" indent="-228600" algn="r" rtl="1">
              <a:lnSpc>
                <a:spcPct val="90000"/>
              </a:lnSpc>
              <a:spcBef>
                <a:spcPts val="500"/>
              </a:spcBef>
              <a:buFont typeface="Arial" panose="020B0604020202020204" pitchFamily="34" charset="0"/>
              <a:buChar char="•"/>
              <a:defRPr sz="2400">
                <a:solidFill>
                  <a:srgbClr val="2814FF"/>
                </a:solidFill>
              </a:defRPr>
            </a:lvl2pPr>
            <a:lvl3pPr marL="1143000" indent="-228600" algn="r" rtl="1">
              <a:lnSpc>
                <a:spcPct val="90000"/>
              </a:lnSpc>
              <a:spcBef>
                <a:spcPts val="500"/>
              </a:spcBef>
              <a:buFont typeface="Arial" panose="020B0604020202020204" pitchFamily="34" charset="0"/>
              <a:buChar char="•"/>
              <a:defRPr sz="2000">
                <a:solidFill>
                  <a:srgbClr val="2814FF"/>
                </a:solidFill>
              </a:defRPr>
            </a:lvl3pPr>
            <a:lvl4pPr marL="1600200" indent="-228600" algn="r" rtl="1">
              <a:lnSpc>
                <a:spcPct val="90000"/>
              </a:lnSpc>
              <a:spcBef>
                <a:spcPts val="500"/>
              </a:spcBef>
              <a:buFont typeface="Arial" panose="020B0604020202020204" pitchFamily="34" charset="0"/>
              <a:buChar char="•"/>
              <a:defRPr>
                <a:solidFill>
                  <a:srgbClr val="2814FF"/>
                </a:solidFill>
              </a:defRPr>
            </a:lvl4pPr>
            <a:lvl5pPr marL="2057400" indent="-228600" algn="r" rtl="1">
              <a:lnSpc>
                <a:spcPct val="90000"/>
              </a:lnSpc>
              <a:spcBef>
                <a:spcPts val="500"/>
              </a:spcBef>
              <a:buFont typeface="Arial" panose="020B0604020202020204" pitchFamily="34" charset="0"/>
              <a:buChar char="•"/>
              <a:defRPr>
                <a:solidFill>
                  <a:srgbClr val="2814FF"/>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sz="1400" dirty="0"/>
              <a:t>"In 1896, among parts of the student youth in Germany, a 'wandering' movement began, aimed at developing the life forces of young people and returning them to the German landscape, distancing them — if only temporarily — from the city and the middle-class patterns of their parents' generation. This movement, known as 'Wandervogel' (wandering bird), quickly spread throughout Germany, with other movements joining later. </a:t>
            </a:r>
          </a:p>
          <a:p>
            <a:pPr algn="l"/>
            <a:r>
              <a:rPr lang="en-US" sz="1400" dirty="0"/>
              <a:t>Youth movements were already complaining at the time about several manifestations of what we now call human alienation in the city, caused by technology and rationalist industrial society and its one-sided emphasis on intellectual development in school. The longing of youth was for a new form of life that would liberate from alienation and develop all the powers of the soul. </a:t>
            </a:r>
          </a:p>
          <a:p>
            <a:pPr algn="l"/>
            <a:r>
              <a:rPr lang="en-US" sz="1400" dirty="0"/>
              <a:t>[They believed that] human responses to real-world challenges are influenced and guided by 'mental attitudes.' As the most effective means of influencing 'mental attitudes,' youth movements saw indirect education methods, using suggestion and symbol, above all — through emotional inspiration.”</a:t>
            </a:r>
            <a:endParaRPr lang="en-US" sz="1400" dirty="0">
              <a:cs typeface="Anomalia v2 AAA Medium" panose="00000600000000000000" pitchFamily="50" charset="-79"/>
            </a:endParaRPr>
          </a:p>
          <a:p>
            <a:pPr algn="l"/>
            <a:endParaRPr lang="en-US" sz="1400" dirty="0">
              <a:latin typeface="Anomalia v2 AAA Medium" panose="00000600000000000000" pitchFamily="50" charset="-79"/>
              <a:cs typeface="Anomalia v2 AAA Medium" panose="00000600000000000000" pitchFamily="50" charset="-79"/>
            </a:endParaRPr>
          </a:p>
          <a:p>
            <a:pPr algn="l"/>
            <a:r>
              <a:rPr lang="en-US" sz="1400" dirty="0"/>
              <a:t>(Chaim Shatzker, 1973)</a:t>
            </a:r>
            <a:endParaRPr lang="en-IL" sz="1400" dirty="0">
              <a:latin typeface="Anomalia v2 AAA Medium" panose="00000600000000000000" pitchFamily="50" charset="-79"/>
              <a:cs typeface="Anomalia v2 AAA Medium" panose="00000600000000000000" pitchFamily="50" charset="-79"/>
            </a:endParaRPr>
          </a:p>
        </p:txBody>
      </p:sp>
    </p:spTree>
    <p:extLst>
      <p:ext uri="{BB962C8B-B14F-4D97-AF65-F5344CB8AC3E}">
        <p14:creationId xmlns:p14="http://schemas.microsoft.com/office/powerpoint/2010/main" val="3448607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תמונה 14">
            <a:extLst>
              <a:ext uri="{FF2B5EF4-FFF2-40B4-BE49-F238E27FC236}">
                <a16:creationId xmlns:a16="http://schemas.microsoft.com/office/drawing/2014/main" id="{92A88CD5-F21C-4DEE-A71B-19675411E838}"/>
              </a:ext>
            </a:extLst>
          </p:cNvPr>
          <p:cNvPicPr>
            <a:picLocks noChangeAspect="1"/>
          </p:cNvPicPr>
          <p:nvPr/>
        </p:nvPicPr>
        <p:blipFill>
          <a:blip r:embed="rId2"/>
          <a:stretch>
            <a:fillRect/>
          </a:stretch>
        </p:blipFill>
        <p:spPr>
          <a:xfrm>
            <a:off x="6958633" y="2394568"/>
            <a:ext cx="3231114" cy="2859206"/>
          </a:xfrm>
          <a:prstGeom prst="rect">
            <a:avLst/>
          </a:prstGeom>
        </p:spPr>
      </p:pic>
      <p:pic>
        <p:nvPicPr>
          <p:cNvPr id="16" name="תמונה 15">
            <a:extLst>
              <a:ext uri="{FF2B5EF4-FFF2-40B4-BE49-F238E27FC236}">
                <a16:creationId xmlns:a16="http://schemas.microsoft.com/office/drawing/2014/main" id="{A8FF4E8D-0FBA-48AD-8DA1-90B7D6579C9A}"/>
              </a:ext>
            </a:extLst>
          </p:cNvPr>
          <p:cNvPicPr>
            <a:picLocks noChangeAspect="1"/>
          </p:cNvPicPr>
          <p:nvPr/>
        </p:nvPicPr>
        <p:blipFill>
          <a:blip r:embed="rId3"/>
          <a:stretch>
            <a:fillRect/>
          </a:stretch>
        </p:blipFill>
        <p:spPr>
          <a:xfrm>
            <a:off x="10189747" y="1531097"/>
            <a:ext cx="1930007" cy="1976648"/>
          </a:xfrm>
          <a:prstGeom prst="rect">
            <a:avLst/>
          </a:prstGeom>
        </p:spPr>
      </p:pic>
      <p:pic>
        <p:nvPicPr>
          <p:cNvPr id="17" name="תמונה 16">
            <a:extLst>
              <a:ext uri="{FF2B5EF4-FFF2-40B4-BE49-F238E27FC236}">
                <a16:creationId xmlns:a16="http://schemas.microsoft.com/office/drawing/2014/main" id="{D6AD293F-BB50-4326-8DEB-388446973201}"/>
              </a:ext>
            </a:extLst>
          </p:cNvPr>
          <p:cNvPicPr>
            <a:picLocks noChangeAspect="1"/>
          </p:cNvPicPr>
          <p:nvPr/>
        </p:nvPicPr>
        <p:blipFill>
          <a:blip r:embed="rId4"/>
          <a:stretch>
            <a:fillRect/>
          </a:stretch>
        </p:blipFill>
        <p:spPr>
          <a:xfrm>
            <a:off x="10290008" y="3824171"/>
            <a:ext cx="1729483" cy="1836904"/>
          </a:xfrm>
          <a:prstGeom prst="rect">
            <a:avLst/>
          </a:prstGeom>
        </p:spPr>
      </p:pic>
      <p:pic>
        <p:nvPicPr>
          <p:cNvPr id="18" name="תמונה 17">
            <a:extLst>
              <a:ext uri="{FF2B5EF4-FFF2-40B4-BE49-F238E27FC236}">
                <a16:creationId xmlns:a16="http://schemas.microsoft.com/office/drawing/2014/main" id="{58D3C7DF-BDAD-48DA-B1EF-8B61A711C9E7}"/>
              </a:ext>
            </a:extLst>
          </p:cNvPr>
          <p:cNvPicPr>
            <a:picLocks noChangeAspect="1"/>
          </p:cNvPicPr>
          <p:nvPr/>
        </p:nvPicPr>
        <p:blipFill>
          <a:blip r:embed="rId5"/>
          <a:stretch>
            <a:fillRect/>
          </a:stretch>
        </p:blipFill>
        <p:spPr>
          <a:xfrm>
            <a:off x="5342746" y="1600470"/>
            <a:ext cx="1615887" cy="2371298"/>
          </a:xfrm>
          <a:prstGeom prst="rect">
            <a:avLst/>
          </a:prstGeom>
        </p:spPr>
      </p:pic>
      <p:pic>
        <p:nvPicPr>
          <p:cNvPr id="19" name="תמונה 18">
            <a:extLst>
              <a:ext uri="{FF2B5EF4-FFF2-40B4-BE49-F238E27FC236}">
                <a16:creationId xmlns:a16="http://schemas.microsoft.com/office/drawing/2014/main" id="{C459E975-0DD4-413A-BD1F-CD8137CEBD08}"/>
              </a:ext>
            </a:extLst>
          </p:cNvPr>
          <p:cNvPicPr>
            <a:picLocks noChangeAspect="1"/>
          </p:cNvPicPr>
          <p:nvPr/>
        </p:nvPicPr>
        <p:blipFill>
          <a:blip r:embed="rId6"/>
          <a:stretch>
            <a:fillRect/>
          </a:stretch>
        </p:blipFill>
        <p:spPr>
          <a:xfrm>
            <a:off x="5286668" y="4094650"/>
            <a:ext cx="1728041" cy="1481178"/>
          </a:xfrm>
          <a:prstGeom prst="rect">
            <a:avLst/>
          </a:prstGeom>
        </p:spPr>
      </p:pic>
      <p:sp>
        <p:nvSpPr>
          <p:cNvPr id="24" name="Title 1">
            <a:extLst>
              <a:ext uri="{FF2B5EF4-FFF2-40B4-BE49-F238E27FC236}">
                <a16:creationId xmlns:a16="http://schemas.microsoft.com/office/drawing/2014/main" id="{ACD5D228-B336-40AE-BA91-0040D58E4655}"/>
              </a:ext>
            </a:extLst>
          </p:cNvPr>
          <p:cNvSpPr>
            <a:spLocks noGrp="1"/>
          </p:cNvSpPr>
          <p:nvPr>
            <p:ph type="title"/>
          </p:nvPr>
        </p:nvSpPr>
        <p:spPr>
          <a:xfrm>
            <a:off x="838200" y="593503"/>
            <a:ext cx="10515600" cy="1325563"/>
          </a:xfrm>
        </p:spPr>
        <p:txBody>
          <a:bodyPr/>
          <a:lstStyle/>
          <a:p>
            <a:pPr algn="ctr"/>
            <a:r>
              <a:rPr lang="en-US" dirty="0"/>
              <a:t>Developing the Informal Code Code</a:t>
            </a:r>
            <a:endParaRPr lang="en-US" dirty="0">
              <a:latin typeface="Anomalia v2 AAA Medium" panose="00000600000000000000" pitchFamily="50" charset="-79"/>
              <a:cs typeface="Anomalia v2 AAA Medium" panose="00000600000000000000" pitchFamily="50" charset="-79"/>
            </a:endParaRPr>
          </a:p>
        </p:txBody>
      </p:sp>
      <p:sp>
        <p:nvSpPr>
          <p:cNvPr id="27" name="TextBox 26">
            <a:extLst>
              <a:ext uri="{FF2B5EF4-FFF2-40B4-BE49-F238E27FC236}">
                <a16:creationId xmlns:a16="http://schemas.microsoft.com/office/drawing/2014/main" id="{B43DDDEF-7192-4D94-876A-F393C3C4E1D3}"/>
              </a:ext>
            </a:extLst>
          </p:cNvPr>
          <p:cNvSpPr txBox="1"/>
          <p:nvPr/>
        </p:nvSpPr>
        <p:spPr>
          <a:xfrm>
            <a:off x="271612" y="1770307"/>
            <a:ext cx="4750716" cy="4107728"/>
          </a:xfrm>
          <a:prstGeom prst="rect">
            <a:avLst/>
          </a:prstGeom>
        </p:spPr>
        <p:txBody>
          <a:bodyPr vert="horz" lIns="91440" tIns="45720" rIns="91440" bIns="45720" rtlCol="0" anchor="t">
            <a:normAutofit/>
          </a:bodyPr>
          <a:lstStyle>
            <a:lvl1pPr indent="0" algn="r" rtl="1">
              <a:lnSpc>
                <a:spcPct val="90000"/>
              </a:lnSpc>
              <a:spcBef>
                <a:spcPts val="1000"/>
              </a:spcBef>
              <a:buFont typeface="Arial" panose="020B0604020202020204" pitchFamily="34" charset="0"/>
              <a:buNone/>
              <a:defRPr sz="2800">
                <a:latin typeface="Anomalia ML v2 AAA" panose="00000500000000000000" pitchFamily="50" charset="-79"/>
                <a:cs typeface="Anomalia ML v2 AAA" panose="00000500000000000000" pitchFamily="50" charset="-79"/>
              </a:defRPr>
            </a:lvl1pPr>
            <a:lvl2pPr marL="685800" indent="-228600" algn="r" rtl="1">
              <a:lnSpc>
                <a:spcPct val="90000"/>
              </a:lnSpc>
              <a:spcBef>
                <a:spcPts val="500"/>
              </a:spcBef>
              <a:buFont typeface="Arial" panose="020B0604020202020204" pitchFamily="34" charset="0"/>
              <a:buChar char="•"/>
              <a:defRPr sz="2400">
                <a:solidFill>
                  <a:srgbClr val="2814FF"/>
                </a:solidFill>
              </a:defRPr>
            </a:lvl2pPr>
            <a:lvl3pPr marL="1143000" indent="-228600" algn="r" rtl="1">
              <a:lnSpc>
                <a:spcPct val="90000"/>
              </a:lnSpc>
              <a:spcBef>
                <a:spcPts val="500"/>
              </a:spcBef>
              <a:buFont typeface="Arial" panose="020B0604020202020204" pitchFamily="34" charset="0"/>
              <a:buChar char="•"/>
              <a:defRPr sz="2000">
                <a:solidFill>
                  <a:srgbClr val="2814FF"/>
                </a:solidFill>
              </a:defRPr>
            </a:lvl3pPr>
            <a:lvl4pPr marL="1600200" indent="-228600" algn="r" rtl="1">
              <a:lnSpc>
                <a:spcPct val="90000"/>
              </a:lnSpc>
              <a:spcBef>
                <a:spcPts val="500"/>
              </a:spcBef>
              <a:buFont typeface="Arial" panose="020B0604020202020204" pitchFamily="34" charset="0"/>
              <a:buChar char="•"/>
              <a:defRPr>
                <a:solidFill>
                  <a:srgbClr val="2814FF"/>
                </a:solidFill>
              </a:defRPr>
            </a:lvl4pPr>
            <a:lvl5pPr marL="2057400" indent="-228600" algn="r" rtl="1">
              <a:lnSpc>
                <a:spcPct val="90000"/>
              </a:lnSpc>
              <a:spcBef>
                <a:spcPts val="500"/>
              </a:spcBef>
              <a:buFont typeface="Arial" panose="020B0604020202020204" pitchFamily="34" charset="0"/>
              <a:buChar char="•"/>
              <a:defRPr>
                <a:solidFill>
                  <a:srgbClr val="2814FF"/>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sz="2400" dirty="0"/>
              <a:t>A system of explicit social conventions through which the conversion of the unknown into the known is made. Alternatively, a code is a basic set of rules underlying concrete conventions and behaviors, giving them meaning, setting a value standard, and serving as a medium of exchange.”</a:t>
            </a:r>
          </a:p>
          <a:p>
            <a:pPr algn="l"/>
            <a:r>
              <a:rPr lang="en-US" sz="2400" dirty="0"/>
              <a:t>(Reuven Kahana, 2000)</a:t>
            </a:r>
          </a:p>
        </p:txBody>
      </p:sp>
      <p:sp>
        <p:nvSpPr>
          <p:cNvPr id="29" name="מציין מיקום תוכן 2">
            <a:extLst>
              <a:ext uri="{FF2B5EF4-FFF2-40B4-BE49-F238E27FC236}">
                <a16:creationId xmlns:a16="http://schemas.microsoft.com/office/drawing/2014/main" id="{B8718F99-BC3E-4927-AE00-E3E0C8A74732}"/>
              </a:ext>
            </a:extLst>
          </p:cNvPr>
          <p:cNvSpPr>
            <a:spLocks noGrp="1"/>
          </p:cNvSpPr>
          <p:nvPr>
            <p:ph idx="1"/>
          </p:nvPr>
        </p:nvSpPr>
        <p:spPr>
          <a:xfrm>
            <a:off x="271612" y="5913529"/>
            <a:ext cx="11926116" cy="880015"/>
          </a:xfrm>
        </p:spPr>
        <p:txBody>
          <a:bodyPr>
            <a:normAutofit fontScale="92500"/>
          </a:bodyPr>
          <a:lstStyle/>
          <a:p>
            <a:pPr marL="0" indent="0" algn="l">
              <a:buNone/>
            </a:pPr>
            <a:r>
              <a:rPr lang="en-US" dirty="0"/>
              <a:t>We will now go through the components of the code. If you experienced or facilitated an activity with this component, write down the component's name and the activity.</a:t>
            </a:r>
          </a:p>
        </p:txBody>
      </p:sp>
    </p:spTree>
    <p:extLst>
      <p:ext uri="{BB962C8B-B14F-4D97-AF65-F5344CB8AC3E}">
        <p14:creationId xmlns:p14="http://schemas.microsoft.com/office/powerpoint/2010/main" val="177938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p:txBody>
          <a:bodyPr vert="horz" lIns="91440" tIns="45720" rIns="91440" bIns="45720" rtlCol="0" anchor="ctr">
            <a:normAutofit/>
          </a:bodyPr>
          <a:lstStyle/>
          <a:p>
            <a:pPr algn="ctr"/>
            <a:r>
              <a:rPr lang="en-US" dirty="0"/>
              <a:t>1. Voluntarism</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7466028" y="2155139"/>
            <a:ext cx="4474960" cy="3238814"/>
          </a:xfrm>
        </p:spPr>
        <p:txBody>
          <a:bodyPr>
            <a:normAutofit/>
          </a:bodyPr>
          <a:lstStyle/>
          <a:p>
            <a:pPr marL="0" indent="0" algn="l">
              <a:buNone/>
            </a:pPr>
            <a:r>
              <a:rPr lang="en-US" sz="3200" dirty="0"/>
              <a:t>Free choice regarding joining, leaving, and participating in activities within the framework, such that the future "cost" of such decisions is minimal.</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4" name="תמונה 3">
            <a:extLst>
              <a:ext uri="{FF2B5EF4-FFF2-40B4-BE49-F238E27FC236}">
                <a16:creationId xmlns:a16="http://schemas.microsoft.com/office/drawing/2014/main" id="{B313F2C6-9ECC-4C64-848F-43920FE31561}"/>
              </a:ext>
            </a:extLst>
          </p:cNvPr>
          <p:cNvPicPr>
            <a:picLocks noChangeAspect="1"/>
          </p:cNvPicPr>
          <p:nvPr/>
        </p:nvPicPr>
        <p:blipFill>
          <a:blip r:embed="rId2"/>
          <a:stretch>
            <a:fillRect/>
          </a:stretch>
        </p:blipFill>
        <p:spPr>
          <a:xfrm>
            <a:off x="377072" y="2073897"/>
            <a:ext cx="6695222" cy="3238814"/>
          </a:xfrm>
          <a:prstGeom prst="rect">
            <a:avLst/>
          </a:prstGeom>
        </p:spPr>
      </p:pic>
    </p:spTree>
    <p:extLst>
      <p:ext uri="{BB962C8B-B14F-4D97-AF65-F5344CB8AC3E}">
        <p14:creationId xmlns:p14="http://schemas.microsoft.com/office/powerpoint/2010/main" val="1446160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p:txBody>
          <a:bodyPr vert="horz" lIns="91440" tIns="45720" rIns="91440" bIns="45720" rtlCol="0" anchor="ctr">
            <a:normAutofit/>
          </a:bodyPr>
          <a:lstStyle/>
          <a:p>
            <a:pPr algn="ctr"/>
            <a:r>
              <a:rPr lang="en-US" dirty="0"/>
              <a:t>2. Multidimensionality</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7013875" y="2452711"/>
            <a:ext cx="3887771" cy="2783796"/>
          </a:xfrm>
        </p:spPr>
        <p:txBody>
          <a:bodyPr>
            <a:normAutofit/>
          </a:bodyPr>
          <a:lstStyle/>
          <a:p>
            <a:pPr marL="0" indent="0" algn="l">
              <a:buNone/>
            </a:pPr>
            <a:r>
              <a:rPr lang="en-US" sz="3200" dirty="0"/>
              <a:t>A broad range of fields of activity and diverse skills, equal in importance and social value.</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5" name="תמונה 4">
            <a:extLst>
              <a:ext uri="{FF2B5EF4-FFF2-40B4-BE49-F238E27FC236}">
                <a16:creationId xmlns:a16="http://schemas.microsoft.com/office/drawing/2014/main" id="{FBF104E1-771F-4D3F-BDDF-400D5C2874E9}"/>
              </a:ext>
            </a:extLst>
          </p:cNvPr>
          <p:cNvPicPr>
            <a:picLocks noChangeAspect="1"/>
          </p:cNvPicPr>
          <p:nvPr/>
        </p:nvPicPr>
        <p:blipFill>
          <a:blip r:embed="rId2"/>
          <a:stretch>
            <a:fillRect/>
          </a:stretch>
        </p:blipFill>
        <p:spPr>
          <a:xfrm>
            <a:off x="996479" y="1602275"/>
            <a:ext cx="5099521" cy="5065581"/>
          </a:xfrm>
          <a:prstGeom prst="rect">
            <a:avLst/>
          </a:prstGeom>
        </p:spPr>
      </p:pic>
    </p:spTree>
    <p:extLst>
      <p:ext uri="{BB962C8B-B14F-4D97-AF65-F5344CB8AC3E}">
        <p14:creationId xmlns:p14="http://schemas.microsoft.com/office/powerpoint/2010/main" val="2550491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p:txBody>
          <a:bodyPr vert="horz" lIns="91440" tIns="45720" rIns="91440" bIns="45720" rtlCol="0" anchor="ctr">
            <a:normAutofit/>
          </a:bodyPr>
          <a:lstStyle/>
          <a:p>
            <a:pPr algn="ctr"/>
            <a:r>
              <a:rPr lang="en-US" dirty="0"/>
              <a:t>3. Symmetry</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7239786" y="2342226"/>
            <a:ext cx="4378473" cy="3248842"/>
          </a:xfrm>
        </p:spPr>
        <p:txBody>
          <a:bodyPr>
            <a:normAutofit lnSpcReduction="10000"/>
          </a:bodyPr>
          <a:lstStyle/>
          <a:p>
            <a:pPr marL="0" indent="0" algn="l">
              <a:buNone/>
            </a:pPr>
            <a:r>
              <a:rPr lang="en-US" sz="3200" dirty="0"/>
              <a:t>Reciprocal interaction based on equal resource relationships, mutual coordination of principles and expectations, with no possibility of coercion on either side.</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4" name="תמונה 3">
            <a:extLst>
              <a:ext uri="{FF2B5EF4-FFF2-40B4-BE49-F238E27FC236}">
                <a16:creationId xmlns:a16="http://schemas.microsoft.com/office/drawing/2014/main" id="{A13E0B2C-2D08-4574-AA8E-CF53AF062E81}"/>
              </a:ext>
            </a:extLst>
          </p:cNvPr>
          <p:cNvPicPr>
            <a:picLocks noChangeAspect="1"/>
          </p:cNvPicPr>
          <p:nvPr/>
        </p:nvPicPr>
        <p:blipFill>
          <a:blip r:embed="rId2"/>
          <a:stretch>
            <a:fillRect/>
          </a:stretch>
        </p:blipFill>
        <p:spPr>
          <a:xfrm>
            <a:off x="721817" y="2242500"/>
            <a:ext cx="6135003" cy="3448295"/>
          </a:xfrm>
          <a:prstGeom prst="rect">
            <a:avLst/>
          </a:prstGeom>
        </p:spPr>
      </p:pic>
    </p:spTree>
    <p:extLst>
      <p:ext uri="{BB962C8B-B14F-4D97-AF65-F5344CB8AC3E}">
        <p14:creationId xmlns:p14="http://schemas.microsoft.com/office/powerpoint/2010/main" val="2838389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p:txBody>
          <a:bodyPr vert="horz" lIns="91440" tIns="45720" rIns="91440" bIns="45720" rtlCol="0" anchor="ctr">
            <a:normAutofit/>
          </a:bodyPr>
          <a:lstStyle/>
          <a:p>
            <a:pPr algn="ctr"/>
            <a:r>
              <a:rPr lang="en-US" dirty="0"/>
              <a:t>4. Dualism</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6539208" y="2443553"/>
            <a:ext cx="4412076" cy="3204212"/>
          </a:xfrm>
        </p:spPr>
        <p:txBody>
          <a:bodyPr>
            <a:normAutofit/>
          </a:bodyPr>
          <a:lstStyle/>
          <a:p>
            <a:pPr marL="0" indent="0" algn="l">
              <a:buNone/>
            </a:pPr>
            <a:r>
              <a:rPr lang="en-US" sz="3200" dirty="0"/>
              <a:t>The simultaneous existence of opposing trends, such as belonging and achievement, competition and cooperation.</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5" name="תמונה 4">
            <a:extLst>
              <a:ext uri="{FF2B5EF4-FFF2-40B4-BE49-F238E27FC236}">
                <a16:creationId xmlns:a16="http://schemas.microsoft.com/office/drawing/2014/main" id="{BC5D5609-2EEA-4DAA-8F0C-A32973F8C187}"/>
              </a:ext>
            </a:extLst>
          </p:cNvPr>
          <p:cNvPicPr>
            <a:picLocks noChangeAspect="1"/>
          </p:cNvPicPr>
          <p:nvPr/>
        </p:nvPicPr>
        <p:blipFill>
          <a:blip r:embed="rId2"/>
          <a:stretch>
            <a:fillRect/>
          </a:stretch>
        </p:blipFill>
        <p:spPr>
          <a:xfrm>
            <a:off x="1538935" y="1809222"/>
            <a:ext cx="4557065" cy="4564976"/>
          </a:xfrm>
          <a:prstGeom prst="rect">
            <a:avLst/>
          </a:prstGeom>
        </p:spPr>
      </p:pic>
    </p:spTree>
    <p:extLst>
      <p:ext uri="{BB962C8B-B14F-4D97-AF65-F5344CB8AC3E}">
        <p14:creationId xmlns:p14="http://schemas.microsoft.com/office/powerpoint/2010/main" val="1906419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a:xfrm>
            <a:off x="838200" y="593503"/>
            <a:ext cx="10492819" cy="1325563"/>
          </a:xfrm>
        </p:spPr>
        <p:txBody>
          <a:bodyPr vert="horz" lIns="91440" tIns="45720" rIns="91440" bIns="45720" rtlCol="0" anchor="ctr">
            <a:normAutofit/>
          </a:bodyPr>
          <a:lstStyle/>
          <a:p>
            <a:pPr algn="ctr"/>
            <a:r>
              <a:rPr lang="en-US" dirty="0"/>
              <a:t>5. Moratorium</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7249213" y="2465068"/>
            <a:ext cx="3887771" cy="2356290"/>
          </a:xfrm>
        </p:spPr>
        <p:txBody>
          <a:bodyPr>
            <a:normAutofit fontScale="92500" lnSpcReduction="20000"/>
          </a:bodyPr>
          <a:lstStyle/>
          <a:p>
            <a:pPr marL="0" indent="0" algn="l">
              <a:buNone/>
            </a:pPr>
            <a:r>
              <a:rPr lang="en-US" sz="3200" dirty="0"/>
              <a:t>Temporary deferral of commitments and decisions, allowing extensive trial-and-error both within and outside institutional boundaries.</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4" name="תמונה 3">
            <a:extLst>
              <a:ext uri="{FF2B5EF4-FFF2-40B4-BE49-F238E27FC236}">
                <a16:creationId xmlns:a16="http://schemas.microsoft.com/office/drawing/2014/main" id="{6B07006C-122C-4309-8494-2D87D2F2D029}"/>
              </a:ext>
            </a:extLst>
          </p:cNvPr>
          <p:cNvPicPr>
            <a:picLocks noChangeAspect="1"/>
          </p:cNvPicPr>
          <p:nvPr/>
        </p:nvPicPr>
        <p:blipFill>
          <a:blip r:embed="rId2"/>
          <a:stretch>
            <a:fillRect/>
          </a:stretch>
        </p:blipFill>
        <p:spPr>
          <a:xfrm>
            <a:off x="684425" y="1846425"/>
            <a:ext cx="6299582" cy="3593576"/>
          </a:xfrm>
          <a:prstGeom prst="rect">
            <a:avLst/>
          </a:prstGeom>
        </p:spPr>
      </p:pic>
    </p:spTree>
    <p:extLst>
      <p:ext uri="{BB962C8B-B14F-4D97-AF65-F5344CB8AC3E}">
        <p14:creationId xmlns:p14="http://schemas.microsoft.com/office/powerpoint/2010/main" val="3397545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a:xfrm>
            <a:off x="838200" y="593503"/>
            <a:ext cx="10492819" cy="1325563"/>
          </a:xfrm>
        </p:spPr>
        <p:txBody>
          <a:bodyPr vert="horz" lIns="91440" tIns="45720" rIns="91440" bIns="45720" rtlCol="0" anchor="ctr">
            <a:normAutofit/>
          </a:bodyPr>
          <a:lstStyle/>
          <a:p>
            <a:pPr algn="ctr"/>
            <a:r>
              <a:rPr lang="en-US" dirty="0"/>
              <a:t>6. Modularity</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6788075" y="2700171"/>
            <a:ext cx="4313324" cy="2471066"/>
          </a:xfrm>
        </p:spPr>
        <p:txBody>
          <a:bodyPr>
            <a:normAutofit/>
          </a:bodyPr>
          <a:lstStyle/>
          <a:p>
            <a:pPr marL="0" indent="0" algn="l">
              <a:buNone/>
            </a:pPr>
            <a:r>
              <a:rPr lang="en-US" sz="3200" dirty="0"/>
              <a:t>Eclectic structuring of activity, done according to changing circumstances and interests.</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5" name="תמונה 4">
            <a:extLst>
              <a:ext uri="{FF2B5EF4-FFF2-40B4-BE49-F238E27FC236}">
                <a16:creationId xmlns:a16="http://schemas.microsoft.com/office/drawing/2014/main" id="{DA69F409-23A1-4C15-965B-A612BF7F75D1}"/>
              </a:ext>
            </a:extLst>
          </p:cNvPr>
          <p:cNvPicPr>
            <a:picLocks noChangeAspect="1"/>
          </p:cNvPicPr>
          <p:nvPr/>
        </p:nvPicPr>
        <p:blipFill>
          <a:blip r:embed="rId2"/>
          <a:stretch>
            <a:fillRect/>
          </a:stretch>
        </p:blipFill>
        <p:spPr>
          <a:xfrm>
            <a:off x="1391311" y="2027777"/>
            <a:ext cx="5088601" cy="3815853"/>
          </a:xfrm>
          <a:prstGeom prst="rect">
            <a:avLst/>
          </a:prstGeom>
        </p:spPr>
      </p:pic>
    </p:spTree>
    <p:extLst>
      <p:ext uri="{BB962C8B-B14F-4D97-AF65-F5344CB8AC3E}">
        <p14:creationId xmlns:p14="http://schemas.microsoft.com/office/powerpoint/2010/main" val="2691241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a:xfrm>
            <a:off x="838200" y="593503"/>
            <a:ext cx="10492819" cy="1325563"/>
          </a:xfrm>
        </p:spPr>
        <p:txBody>
          <a:bodyPr vert="horz" lIns="91440" tIns="45720" rIns="91440" bIns="45720" rtlCol="0" anchor="ctr">
            <a:normAutofit/>
          </a:bodyPr>
          <a:lstStyle/>
          <a:p>
            <a:pPr algn="ctr"/>
            <a:r>
              <a:rPr lang="en-US" dirty="0"/>
              <a:t>7. Expressive Instrumentalism</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6589691" y="2457956"/>
            <a:ext cx="4511708" cy="3404961"/>
          </a:xfrm>
        </p:spPr>
        <p:txBody>
          <a:bodyPr>
            <a:normAutofit fontScale="92500"/>
          </a:bodyPr>
          <a:lstStyle/>
          <a:p>
            <a:pPr marL="0" indent="0" algn="l">
              <a:buNone/>
            </a:pPr>
            <a:r>
              <a:rPr lang="en-US" sz="3200" dirty="0"/>
              <a:t>(Also called: a combination of instrumental and expressive orientation) — A fusion of expressive activity, with immediate reward, and instrumental activity aimed at achieving future results.</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4" name="תמונה 3">
            <a:extLst>
              <a:ext uri="{FF2B5EF4-FFF2-40B4-BE49-F238E27FC236}">
                <a16:creationId xmlns:a16="http://schemas.microsoft.com/office/drawing/2014/main" id="{C69AF45E-C6A0-4119-BF47-FE74F4937063}"/>
              </a:ext>
            </a:extLst>
          </p:cNvPr>
          <p:cNvPicPr>
            <a:picLocks noChangeAspect="1"/>
          </p:cNvPicPr>
          <p:nvPr/>
        </p:nvPicPr>
        <p:blipFill>
          <a:blip r:embed="rId2"/>
          <a:stretch>
            <a:fillRect/>
          </a:stretch>
        </p:blipFill>
        <p:spPr>
          <a:xfrm>
            <a:off x="1584292" y="1919066"/>
            <a:ext cx="4511708" cy="4239726"/>
          </a:xfrm>
          <a:prstGeom prst="rect">
            <a:avLst/>
          </a:prstGeom>
        </p:spPr>
      </p:pic>
    </p:spTree>
    <p:extLst>
      <p:ext uri="{BB962C8B-B14F-4D97-AF65-F5344CB8AC3E}">
        <p14:creationId xmlns:p14="http://schemas.microsoft.com/office/powerpoint/2010/main" val="2738380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51F730-0D20-4E72-B72E-3ACFE92BB7BD}"/>
              </a:ext>
            </a:extLst>
          </p:cNvPr>
          <p:cNvSpPr>
            <a:spLocks noGrp="1"/>
          </p:cNvSpPr>
          <p:nvPr>
            <p:ph type="title"/>
          </p:nvPr>
        </p:nvSpPr>
        <p:spPr>
          <a:xfrm>
            <a:off x="838200" y="593503"/>
            <a:ext cx="10492819" cy="1325563"/>
          </a:xfrm>
        </p:spPr>
        <p:txBody>
          <a:bodyPr vert="horz" lIns="91440" tIns="45720" rIns="91440" bIns="45720" rtlCol="0" anchor="ctr">
            <a:normAutofit/>
          </a:bodyPr>
          <a:lstStyle/>
          <a:p>
            <a:pPr algn="ctr"/>
            <a:r>
              <a:rPr lang="en-US" dirty="0"/>
              <a:t>8. Pragmatic Symbolism</a:t>
            </a:r>
            <a:endParaRPr lang="en-IL" dirty="0">
              <a:latin typeface="Anomalia v2 AAA Medium" panose="00000600000000000000" pitchFamily="50" charset="-79"/>
              <a:cs typeface="Anomalia v2 AAA Medium" panose="00000600000000000000" pitchFamily="50" charset="-79"/>
            </a:endParaRPr>
          </a:p>
        </p:txBody>
      </p:sp>
      <p:sp>
        <p:nvSpPr>
          <p:cNvPr id="3" name="מציין מיקום תוכן 2">
            <a:extLst>
              <a:ext uri="{FF2B5EF4-FFF2-40B4-BE49-F238E27FC236}">
                <a16:creationId xmlns:a16="http://schemas.microsoft.com/office/drawing/2014/main" id="{324BDB2E-60DB-4D30-B4A7-E72214C26B53}"/>
              </a:ext>
            </a:extLst>
          </p:cNvPr>
          <p:cNvSpPr>
            <a:spLocks noGrp="1"/>
          </p:cNvSpPr>
          <p:nvPr>
            <p:ph idx="1"/>
          </p:nvPr>
        </p:nvSpPr>
        <p:spPr>
          <a:xfrm>
            <a:off x="7213627" y="2630079"/>
            <a:ext cx="3887771" cy="1847653"/>
          </a:xfrm>
        </p:spPr>
        <p:txBody>
          <a:bodyPr>
            <a:normAutofit/>
          </a:bodyPr>
          <a:lstStyle/>
          <a:p>
            <a:pPr marL="0" indent="0" algn="l">
              <a:buNone/>
            </a:pPr>
            <a:r>
              <a:rPr lang="en-US" sz="3200" dirty="0"/>
              <a:t>Attributing symbolic meaning to actions and/or converting symbols into deeds.</a:t>
            </a:r>
            <a:endParaRPr lang="en-IL" sz="3200" dirty="0">
              <a:solidFill>
                <a:schemeClr val="tx1"/>
              </a:solidFill>
              <a:latin typeface="Anomalia v2 AAA Medium" panose="00000600000000000000" pitchFamily="50" charset="-79"/>
              <a:cs typeface="Anomalia v2 AAA Medium" panose="00000600000000000000" pitchFamily="50" charset="-79"/>
            </a:endParaRPr>
          </a:p>
        </p:txBody>
      </p:sp>
      <p:pic>
        <p:nvPicPr>
          <p:cNvPr id="5" name="תמונה 4">
            <a:extLst>
              <a:ext uri="{FF2B5EF4-FFF2-40B4-BE49-F238E27FC236}">
                <a16:creationId xmlns:a16="http://schemas.microsoft.com/office/drawing/2014/main" id="{184287D0-7BFC-4B81-A934-81998CEDD09C}"/>
              </a:ext>
            </a:extLst>
          </p:cNvPr>
          <p:cNvPicPr>
            <a:picLocks noChangeAspect="1"/>
          </p:cNvPicPr>
          <p:nvPr/>
        </p:nvPicPr>
        <p:blipFill>
          <a:blip r:embed="rId2"/>
          <a:stretch>
            <a:fillRect/>
          </a:stretch>
        </p:blipFill>
        <p:spPr>
          <a:xfrm>
            <a:off x="1382598" y="1760038"/>
            <a:ext cx="5373204" cy="3587733"/>
          </a:xfrm>
          <a:prstGeom prst="rect">
            <a:avLst/>
          </a:prstGeom>
        </p:spPr>
      </p:pic>
    </p:spTree>
    <p:extLst>
      <p:ext uri="{BB962C8B-B14F-4D97-AF65-F5344CB8AC3E}">
        <p14:creationId xmlns:p14="http://schemas.microsoft.com/office/powerpoint/2010/main" val="1588240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6059"/>
            <a:ext cx="10515600" cy="3736852"/>
          </a:xfrm>
        </p:spPr>
        <p:txBody>
          <a:bodyPr>
            <a:normAutofit fontScale="90000"/>
          </a:bodyPr>
          <a:lstStyle/>
          <a:p>
            <a:pPr algn="ctr"/>
            <a:r>
              <a:rPr lang="en-US" sz="5400" dirty="0"/>
              <a:t>How many components of the code did you experience in the course of your work in education?</a:t>
            </a:r>
            <a:br>
              <a:rPr lang="en-US" sz="5400" dirty="0"/>
            </a:br>
            <a:br>
              <a:rPr lang="en-US" sz="5400" dirty="0"/>
            </a:br>
            <a:r>
              <a:rPr lang="en-US" sz="5400" dirty="0"/>
              <a:t>Both as educators/teachers and as students/youth.</a:t>
            </a:r>
            <a:endParaRPr lang="en-US" sz="5400" dirty="0">
              <a:latin typeface="Anomalia v2 AAA Medium" panose="00000600000000000000" pitchFamily="50" charset="-79"/>
              <a:cs typeface="Anomalia v2 AAA Medium" panose="00000600000000000000" pitchFamily="50" charset="-79"/>
            </a:endParaRPr>
          </a:p>
        </p:txBody>
      </p:sp>
    </p:spTree>
    <p:extLst>
      <p:ext uri="{BB962C8B-B14F-4D97-AF65-F5344CB8AC3E}">
        <p14:creationId xmlns:p14="http://schemas.microsoft.com/office/powerpoint/2010/main" val="1657662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מציין מיקום תוכן 2">
            <a:extLst>
              <a:ext uri="{FF2B5EF4-FFF2-40B4-BE49-F238E27FC236}">
                <a16:creationId xmlns:a16="http://schemas.microsoft.com/office/drawing/2014/main" id="{489CEFAC-DC21-4F4C-B152-1C03F1462B23}"/>
              </a:ext>
            </a:extLst>
          </p:cNvPr>
          <p:cNvSpPr>
            <a:spLocks noGrp="1"/>
          </p:cNvSpPr>
          <p:nvPr>
            <p:ph idx="1"/>
          </p:nvPr>
        </p:nvSpPr>
        <p:spPr>
          <a:xfrm>
            <a:off x="4256208" y="3429000"/>
            <a:ext cx="1387288" cy="993759"/>
          </a:xfrm>
        </p:spPr>
        <p:txBody>
          <a:bodyPr vert="horz" lIns="91440" tIns="45720" rIns="91440" bIns="45720" rtlCol="0">
            <a:normAutofit/>
          </a:bodyPr>
          <a:lstStyle/>
          <a:p>
            <a:pPr marL="0" indent="0" algn="l">
              <a:buNone/>
            </a:pPr>
            <a:r>
              <a:rPr lang="en-US" sz="2000" dirty="0">
                <a:solidFill>
                  <a:schemeClr val="tx1"/>
                </a:solidFill>
                <a:latin typeface="Anomalia v2 AAA Medium" panose="00000600000000000000" pitchFamily="50" charset="-79"/>
                <a:cs typeface="Anomalia v2 AAA Medium" panose="00000600000000000000" pitchFamily="50" charset="-79"/>
              </a:rPr>
              <a:t>Boarding Education</a:t>
            </a:r>
            <a:endParaRPr lang="he-IL" sz="2000" dirty="0">
              <a:solidFill>
                <a:schemeClr val="tx1"/>
              </a:solidFill>
              <a:latin typeface="Anomalia v2 AAA Medium" panose="00000600000000000000" pitchFamily="50" charset="-79"/>
              <a:cs typeface="Anomalia v2 AAA Medium" panose="00000600000000000000" pitchFamily="50" charset="-79"/>
            </a:endParaRPr>
          </a:p>
        </p:txBody>
      </p:sp>
      <p:pic>
        <p:nvPicPr>
          <p:cNvPr id="15" name="תמונה 14">
            <a:extLst>
              <a:ext uri="{FF2B5EF4-FFF2-40B4-BE49-F238E27FC236}">
                <a16:creationId xmlns:a16="http://schemas.microsoft.com/office/drawing/2014/main" id="{92A88CD5-F21C-4DEE-A71B-19675411E838}"/>
              </a:ext>
            </a:extLst>
          </p:cNvPr>
          <p:cNvPicPr>
            <a:picLocks noChangeAspect="1"/>
          </p:cNvPicPr>
          <p:nvPr/>
        </p:nvPicPr>
        <p:blipFill>
          <a:blip r:embed="rId2"/>
          <a:stretch>
            <a:fillRect/>
          </a:stretch>
        </p:blipFill>
        <p:spPr>
          <a:xfrm>
            <a:off x="7952902" y="3180040"/>
            <a:ext cx="2585049" cy="2287504"/>
          </a:xfrm>
          <a:prstGeom prst="rect">
            <a:avLst/>
          </a:prstGeom>
        </p:spPr>
      </p:pic>
      <p:pic>
        <p:nvPicPr>
          <p:cNvPr id="16" name="תמונה 15">
            <a:extLst>
              <a:ext uri="{FF2B5EF4-FFF2-40B4-BE49-F238E27FC236}">
                <a16:creationId xmlns:a16="http://schemas.microsoft.com/office/drawing/2014/main" id="{A8FF4E8D-0FBA-48AD-8DA1-90B7D6579C9A}"/>
              </a:ext>
            </a:extLst>
          </p:cNvPr>
          <p:cNvPicPr>
            <a:picLocks noChangeAspect="1"/>
          </p:cNvPicPr>
          <p:nvPr/>
        </p:nvPicPr>
        <p:blipFill>
          <a:blip r:embed="rId3"/>
          <a:stretch>
            <a:fillRect/>
          </a:stretch>
        </p:blipFill>
        <p:spPr>
          <a:xfrm>
            <a:off x="10572485" y="2425950"/>
            <a:ext cx="1544100" cy="1581415"/>
          </a:xfrm>
          <a:prstGeom prst="rect">
            <a:avLst/>
          </a:prstGeom>
        </p:spPr>
      </p:pic>
      <p:pic>
        <p:nvPicPr>
          <p:cNvPr id="17" name="תמונה 16">
            <a:extLst>
              <a:ext uri="{FF2B5EF4-FFF2-40B4-BE49-F238E27FC236}">
                <a16:creationId xmlns:a16="http://schemas.microsoft.com/office/drawing/2014/main" id="{D6AD293F-BB50-4326-8DEB-388446973201}"/>
              </a:ext>
            </a:extLst>
          </p:cNvPr>
          <p:cNvPicPr>
            <a:picLocks noChangeAspect="1"/>
          </p:cNvPicPr>
          <p:nvPr/>
        </p:nvPicPr>
        <p:blipFill>
          <a:blip r:embed="rId4"/>
          <a:stretch>
            <a:fillRect/>
          </a:stretch>
        </p:blipFill>
        <p:spPr>
          <a:xfrm>
            <a:off x="10632651" y="4691082"/>
            <a:ext cx="1383671" cy="1469613"/>
          </a:xfrm>
          <a:prstGeom prst="rect">
            <a:avLst/>
          </a:prstGeom>
        </p:spPr>
      </p:pic>
      <p:pic>
        <p:nvPicPr>
          <p:cNvPr id="18" name="תמונה 17">
            <a:extLst>
              <a:ext uri="{FF2B5EF4-FFF2-40B4-BE49-F238E27FC236}">
                <a16:creationId xmlns:a16="http://schemas.microsoft.com/office/drawing/2014/main" id="{58D3C7DF-BDAD-48DA-B1EF-8B61A711C9E7}"/>
              </a:ext>
            </a:extLst>
          </p:cNvPr>
          <p:cNvPicPr>
            <a:picLocks noChangeAspect="1"/>
          </p:cNvPicPr>
          <p:nvPr/>
        </p:nvPicPr>
        <p:blipFill>
          <a:blip r:embed="rId5"/>
          <a:stretch>
            <a:fillRect/>
          </a:stretch>
        </p:blipFill>
        <p:spPr>
          <a:xfrm>
            <a:off x="6516083" y="2480423"/>
            <a:ext cx="1292788" cy="1897154"/>
          </a:xfrm>
          <a:prstGeom prst="rect">
            <a:avLst/>
          </a:prstGeom>
        </p:spPr>
      </p:pic>
      <p:pic>
        <p:nvPicPr>
          <p:cNvPr id="19" name="תמונה 18">
            <a:extLst>
              <a:ext uri="{FF2B5EF4-FFF2-40B4-BE49-F238E27FC236}">
                <a16:creationId xmlns:a16="http://schemas.microsoft.com/office/drawing/2014/main" id="{C459E975-0DD4-413A-BD1F-CD8137CEBD08}"/>
              </a:ext>
            </a:extLst>
          </p:cNvPr>
          <p:cNvPicPr>
            <a:picLocks noChangeAspect="1"/>
          </p:cNvPicPr>
          <p:nvPr/>
        </p:nvPicPr>
        <p:blipFill>
          <a:blip r:embed="rId6"/>
          <a:stretch>
            <a:fillRect/>
          </a:stretch>
        </p:blipFill>
        <p:spPr>
          <a:xfrm>
            <a:off x="6426353" y="4896055"/>
            <a:ext cx="1382518" cy="1185015"/>
          </a:xfrm>
          <a:prstGeom prst="rect">
            <a:avLst/>
          </a:prstGeom>
        </p:spPr>
      </p:pic>
      <p:sp>
        <p:nvSpPr>
          <p:cNvPr id="20" name="קשת 19">
            <a:extLst>
              <a:ext uri="{FF2B5EF4-FFF2-40B4-BE49-F238E27FC236}">
                <a16:creationId xmlns:a16="http://schemas.microsoft.com/office/drawing/2014/main" id="{09B77BB2-C50A-4D36-924B-A2CB5DB94C6C}"/>
              </a:ext>
            </a:extLst>
          </p:cNvPr>
          <p:cNvSpPr/>
          <p:nvPr/>
        </p:nvSpPr>
        <p:spPr>
          <a:xfrm rot="14206164">
            <a:off x="5977155" y="1085685"/>
            <a:ext cx="5555597" cy="6145196"/>
          </a:xfrm>
          <a:prstGeom prst="arc">
            <a:avLst>
              <a:gd name="adj1" fmla="val 15746309"/>
              <a:gd name="adj2" fmla="val 0"/>
            </a:avLst>
          </a:prstGeom>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1" name="מציין מיקום תוכן 2">
            <a:extLst>
              <a:ext uri="{FF2B5EF4-FFF2-40B4-BE49-F238E27FC236}">
                <a16:creationId xmlns:a16="http://schemas.microsoft.com/office/drawing/2014/main" id="{A5564E31-8C55-4B1A-815E-97660C584C81}"/>
              </a:ext>
            </a:extLst>
          </p:cNvPr>
          <p:cNvSpPr txBox="1">
            <a:spLocks/>
          </p:cNvSpPr>
          <p:nvPr/>
        </p:nvSpPr>
        <p:spPr>
          <a:xfrm>
            <a:off x="1722131" y="838309"/>
            <a:ext cx="9113559" cy="926112"/>
          </a:xfrm>
          <a:prstGeom prst="rect">
            <a:avLst/>
          </a:prstGeom>
        </p:spPr>
        <p:txBody>
          <a:bodyPr vert="horz" lIns="91440" tIns="45720" rIns="91440" bIns="45720" rtlCol="0" anchor="ctr">
            <a:normAutofit fontScale="85000" lnSpcReduction="10000"/>
          </a:bodyPr>
          <a:lstStyle>
            <a:lvl1pPr algn="r">
              <a:lnSpc>
                <a:spcPct val="90000"/>
              </a:lnSpc>
              <a:spcBef>
                <a:spcPct val="0"/>
              </a:spcBef>
              <a:buNone/>
              <a:defRPr sz="4400">
                <a:solidFill>
                  <a:srgbClr val="2814FF"/>
                </a:solidFill>
                <a:latin typeface="Anomalia v2 AAA Medium" panose="00000600000000000000" pitchFamily="50" charset="-79"/>
                <a:ea typeface="+mj-ea"/>
                <a:cs typeface="Anomalia v2 AAA Medium" panose="00000600000000000000" pitchFamily="50" charset="-79"/>
              </a:defRPr>
            </a:lvl1pPr>
            <a:lvl2pPr marL="630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r>
              <a:rPr lang="en-US" dirty="0"/>
              <a:t>The Informal Code – A Generative Theory</a:t>
            </a:r>
            <a:endParaRPr lang="he-IL" dirty="0"/>
          </a:p>
        </p:txBody>
      </p:sp>
      <p:sp>
        <p:nvSpPr>
          <p:cNvPr id="22" name="קשת 21">
            <a:extLst>
              <a:ext uri="{FF2B5EF4-FFF2-40B4-BE49-F238E27FC236}">
                <a16:creationId xmlns:a16="http://schemas.microsoft.com/office/drawing/2014/main" id="{98BCAC20-0A11-450F-AD9D-9B580F45A8BB}"/>
              </a:ext>
            </a:extLst>
          </p:cNvPr>
          <p:cNvSpPr/>
          <p:nvPr/>
        </p:nvSpPr>
        <p:spPr>
          <a:xfrm rot="14206164">
            <a:off x="3965488" y="1085685"/>
            <a:ext cx="5555597" cy="6145196"/>
          </a:xfrm>
          <a:prstGeom prst="arc">
            <a:avLst>
              <a:gd name="adj1" fmla="val 15746309"/>
              <a:gd name="adj2" fmla="val 0"/>
            </a:avLst>
          </a:prstGeom>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3" name="מציין מיקום תוכן 2">
            <a:extLst>
              <a:ext uri="{FF2B5EF4-FFF2-40B4-BE49-F238E27FC236}">
                <a16:creationId xmlns:a16="http://schemas.microsoft.com/office/drawing/2014/main" id="{08F2998A-E85E-4A2F-8A71-75C5134B4C15}"/>
              </a:ext>
            </a:extLst>
          </p:cNvPr>
          <p:cNvSpPr txBox="1">
            <a:spLocks/>
          </p:cNvSpPr>
          <p:nvPr/>
        </p:nvSpPr>
        <p:spPr>
          <a:xfrm>
            <a:off x="2282089" y="3366794"/>
            <a:ext cx="1586974" cy="1445019"/>
          </a:xfrm>
          <a:prstGeom prst="rect">
            <a:avLst/>
          </a:prstGeom>
        </p:spPr>
        <p:txBody>
          <a:bodyPr vert="horz" lIns="91440" tIns="45720" rIns="91440" bIns="45720" rtlCol="0">
            <a:normAutofit/>
          </a:bodyPr>
          <a:lstStyle>
            <a:lvl1pPr indent="0" algn="r" rtl="1">
              <a:lnSpc>
                <a:spcPct val="90000"/>
              </a:lnSpc>
              <a:spcBef>
                <a:spcPts val="1000"/>
              </a:spcBef>
              <a:buFont typeface="Arial" panose="020B0604020202020204" pitchFamily="34" charset="0"/>
              <a:buNone/>
              <a:defRPr sz="3200">
                <a:latin typeface="Anomalia v2 AAA Medium" panose="00000600000000000000" pitchFamily="50" charset="-79"/>
                <a:cs typeface="Anomalia v2 AAA Medium" panose="00000600000000000000" pitchFamily="50" charset="-79"/>
              </a:defRPr>
            </a:lvl1pPr>
            <a:lvl2pPr marL="685800" indent="-228600" algn="r" rtl="1">
              <a:lnSpc>
                <a:spcPct val="90000"/>
              </a:lnSpc>
              <a:spcBef>
                <a:spcPts val="500"/>
              </a:spcBef>
              <a:buFont typeface="Arial" panose="020B0604020202020204" pitchFamily="34" charset="0"/>
              <a:buChar char="•"/>
              <a:defRPr sz="2400">
                <a:solidFill>
                  <a:srgbClr val="2814FF"/>
                </a:solidFill>
              </a:defRPr>
            </a:lvl2pPr>
            <a:lvl3pPr marL="1143000" indent="-228600" algn="r" rtl="1">
              <a:lnSpc>
                <a:spcPct val="90000"/>
              </a:lnSpc>
              <a:spcBef>
                <a:spcPts val="500"/>
              </a:spcBef>
              <a:buFont typeface="Arial" panose="020B0604020202020204" pitchFamily="34" charset="0"/>
              <a:buChar char="•"/>
              <a:defRPr sz="2000">
                <a:solidFill>
                  <a:srgbClr val="2814FF"/>
                </a:solidFill>
              </a:defRPr>
            </a:lvl3pPr>
            <a:lvl4pPr marL="1600200" indent="-228600" algn="r" rtl="1">
              <a:lnSpc>
                <a:spcPct val="90000"/>
              </a:lnSpc>
              <a:spcBef>
                <a:spcPts val="500"/>
              </a:spcBef>
              <a:buFont typeface="Arial" panose="020B0604020202020204" pitchFamily="34" charset="0"/>
              <a:buChar char="•"/>
              <a:defRPr>
                <a:solidFill>
                  <a:srgbClr val="2814FF"/>
                </a:solidFill>
              </a:defRPr>
            </a:lvl4pPr>
            <a:lvl5pPr marL="2057400" indent="-228600" algn="r" rtl="1">
              <a:lnSpc>
                <a:spcPct val="90000"/>
              </a:lnSpc>
              <a:spcBef>
                <a:spcPts val="500"/>
              </a:spcBef>
              <a:buFont typeface="Arial" panose="020B0604020202020204" pitchFamily="34" charset="0"/>
              <a:buChar char="•"/>
              <a:defRPr>
                <a:solidFill>
                  <a:srgbClr val="2814FF"/>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sz="2000" dirty="0"/>
              <a:t>Youth in Postmodern Society</a:t>
            </a:r>
            <a:endParaRPr lang="he-IL" sz="2000" dirty="0"/>
          </a:p>
        </p:txBody>
      </p:sp>
      <p:sp>
        <p:nvSpPr>
          <p:cNvPr id="12" name="קשת 11">
            <a:extLst>
              <a:ext uri="{FF2B5EF4-FFF2-40B4-BE49-F238E27FC236}">
                <a16:creationId xmlns:a16="http://schemas.microsoft.com/office/drawing/2014/main" id="{BD5A4A8E-17B5-4371-B06F-909B9F5B79A6}"/>
              </a:ext>
            </a:extLst>
          </p:cNvPr>
          <p:cNvSpPr/>
          <p:nvPr/>
        </p:nvSpPr>
        <p:spPr>
          <a:xfrm rot="14206164">
            <a:off x="2290394" y="1085686"/>
            <a:ext cx="5555597" cy="6145196"/>
          </a:xfrm>
          <a:prstGeom prst="arc">
            <a:avLst>
              <a:gd name="adj1" fmla="val 15746309"/>
              <a:gd name="adj2" fmla="val 0"/>
            </a:avLst>
          </a:prstGeom>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13" name="מציין מיקום תוכן 2">
            <a:extLst>
              <a:ext uri="{FF2B5EF4-FFF2-40B4-BE49-F238E27FC236}">
                <a16:creationId xmlns:a16="http://schemas.microsoft.com/office/drawing/2014/main" id="{B4BD4ED7-A293-4C1A-8270-51322ACE458D}"/>
              </a:ext>
            </a:extLst>
          </p:cNvPr>
          <p:cNvSpPr txBox="1">
            <a:spLocks/>
          </p:cNvSpPr>
          <p:nvPr/>
        </p:nvSpPr>
        <p:spPr>
          <a:xfrm>
            <a:off x="341477" y="3168586"/>
            <a:ext cx="1714106" cy="1677555"/>
          </a:xfrm>
          <a:prstGeom prst="rect">
            <a:avLst/>
          </a:prstGeom>
        </p:spPr>
        <p:txBody>
          <a:bodyPr vert="horz" lIns="91440" tIns="45720" rIns="91440" bIns="45720" rtlCol="0">
            <a:normAutofit fontScale="62500" lnSpcReduction="20000"/>
          </a:bodyPr>
          <a:lstStyle>
            <a:lvl1pPr indent="0" algn="r" rtl="1">
              <a:lnSpc>
                <a:spcPct val="90000"/>
              </a:lnSpc>
              <a:spcBef>
                <a:spcPts val="1000"/>
              </a:spcBef>
              <a:buFont typeface="Arial" panose="020B0604020202020204" pitchFamily="34" charset="0"/>
              <a:buNone/>
              <a:defRPr sz="3200">
                <a:latin typeface="Anomalia v2 AAA Medium" panose="00000600000000000000" pitchFamily="50" charset="-79"/>
                <a:cs typeface="Anomalia v2 AAA Medium" panose="00000600000000000000" pitchFamily="50" charset="-79"/>
              </a:defRPr>
            </a:lvl1pPr>
            <a:lvl2pPr marL="685800" indent="-228600" algn="r" rtl="1">
              <a:lnSpc>
                <a:spcPct val="90000"/>
              </a:lnSpc>
              <a:spcBef>
                <a:spcPts val="500"/>
              </a:spcBef>
              <a:buFont typeface="Arial" panose="020B0604020202020204" pitchFamily="34" charset="0"/>
              <a:buChar char="•"/>
              <a:defRPr sz="2400">
                <a:solidFill>
                  <a:srgbClr val="2814FF"/>
                </a:solidFill>
              </a:defRPr>
            </a:lvl2pPr>
            <a:lvl3pPr marL="1143000" indent="-228600" algn="r" rtl="1">
              <a:lnSpc>
                <a:spcPct val="90000"/>
              </a:lnSpc>
              <a:spcBef>
                <a:spcPts val="500"/>
              </a:spcBef>
              <a:buFont typeface="Arial" panose="020B0604020202020204" pitchFamily="34" charset="0"/>
              <a:buChar char="•"/>
              <a:defRPr sz="2000">
                <a:solidFill>
                  <a:srgbClr val="2814FF"/>
                </a:solidFill>
              </a:defRPr>
            </a:lvl3pPr>
            <a:lvl4pPr marL="1600200" indent="-228600" algn="r" rtl="1">
              <a:lnSpc>
                <a:spcPct val="90000"/>
              </a:lnSpc>
              <a:spcBef>
                <a:spcPts val="500"/>
              </a:spcBef>
              <a:buFont typeface="Arial" panose="020B0604020202020204" pitchFamily="34" charset="0"/>
              <a:buChar char="•"/>
              <a:defRPr>
                <a:solidFill>
                  <a:srgbClr val="2814FF"/>
                </a:solidFill>
              </a:defRPr>
            </a:lvl4pPr>
            <a:lvl5pPr marL="2057400" indent="-228600" algn="r" rtl="1">
              <a:lnSpc>
                <a:spcPct val="90000"/>
              </a:lnSpc>
              <a:spcBef>
                <a:spcPts val="500"/>
              </a:spcBef>
              <a:buFont typeface="Arial" panose="020B0604020202020204" pitchFamily="34" charset="0"/>
              <a:buChar char="•"/>
              <a:defRPr>
                <a:solidFill>
                  <a:srgbClr val="2814FF"/>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sz="2800" dirty="0"/>
              <a:t>Economic corporations, political parties, volunteer organizations, schools, and more</a:t>
            </a:r>
            <a:endParaRPr lang="he-IL" sz="2800" dirty="0"/>
          </a:p>
        </p:txBody>
      </p:sp>
      <p:sp>
        <p:nvSpPr>
          <p:cNvPr id="24" name="מציין מיקום תוכן 2">
            <a:extLst>
              <a:ext uri="{FF2B5EF4-FFF2-40B4-BE49-F238E27FC236}">
                <a16:creationId xmlns:a16="http://schemas.microsoft.com/office/drawing/2014/main" id="{ED1C209C-1B01-4C46-8E8E-17D29F529954}"/>
              </a:ext>
            </a:extLst>
          </p:cNvPr>
          <p:cNvSpPr txBox="1">
            <a:spLocks/>
          </p:cNvSpPr>
          <p:nvPr/>
        </p:nvSpPr>
        <p:spPr>
          <a:xfrm>
            <a:off x="3684557" y="6414187"/>
            <a:ext cx="4882190" cy="367361"/>
          </a:xfrm>
          <a:prstGeom prst="rect">
            <a:avLst/>
          </a:prstGeom>
        </p:spPr>
        <p:txBody>
          <a:bodyPr vert="horz" lIns="91440" tIns="45720" rIns="91440" bIns="45720" rtlCol="0">
            <a:normAutofit fontScale="77500" lnSpcReduction="20000"/>
          </a:bodyPr>
          <a:lstStyle>
            <a:lvl1pPr indent="0" algn="r" rtl="1">
              <a:lnSpc>
                <a:spcPct val="90000"/>
              </a:lnSpc>
              <a:spcBef>
                <a:spcPts val="1000"/>
              </a:spcBef>
              <a:buFont typeface="Arial" panose="020B0604020202020204" pitchFamily="34" charset="0"/>
              <a:buNone/>
              <a:defRPr sz="3200">
                <a:latin typeface="Anomalia v2 AAA Medium" panose="00000600000000000000" pitchFamily="50" charset="-79"/>
                <a:cs typeface="Anomalia v2 AAA Medium" panose="00000600000000000000" pitchFamily="50" charset="-79"/>
              </a:defRPr>
            </a:lvl1pPr>
            <a:lvl2pPr marL="685800" indent="-228600" algn="r" rtl="1">
              <a:lnSpc>
                <a:spcPct val="90000"/>
              </a:lnSpc>
              <a:spcBef>
                <a:spcPts val="500"/>
              </a:spcBef>
              <a:buFont typeface="Arial" panose="020B0604020202020204" pitchFamily="34" charset="0"/>
              <a:buChar char="•"/>
              <a:defRPr sz="2400">
                <a:solidFill>
                  <a:srgbClr val="2814FF"/>
                </a:solidFill>
              </a:defRPr>
            </a:lvl2pPr>
            <a:lvl3pPr marL="1143000" indent="-228600" algn="r" rtl="1">
              <a:lnSpc>
                <a:spcPct val="90000"/>
              </a:lnSpc>
              <a:spcBef>
                <a:spcPts val="500"/>
              </a:spcBef>
              <a:buFont typeface="Arial" panose="020B0604020202020204" pitchFamily="34" charset="0"/>
              <a:buChar char="•"/>
              <a:defRPr sz="2000">
                <a:solidFill>
                  <a:srgbClr val="2814FF"/>
                </a:solidFill>
              </a:defRPr>
            </a:lvl3pPr>
            <a:lvl4pPr marL="1600200" indent="-228600" algn="r" rtl="1">
              <a:lnSpc>
                <a:spcPct val="90000"/>
              </a:lnSpc>
              <a:spcBef>
                <a:spcPts val="500"/>
              </a:spcBef>
              <a:buFont typeface="Arial" panose="020B0604020202020204" pitchFamily="34" charset="0"/>
              <a:buChar char="•"/>
              <a:defRPr>
                <a:solidFill>
                  <a:srgbClr val="2814FF"/>
                </a:solidFill>
              </a:defRPr>
            </a:lvl4pPr>
            <a:lvl5pPr marL="2057400" indent="-228600" algn="r" rtl="1">
              <a:lnSpc>
                <a:spcPct val="90000"/>
              </a:lnSpc>
              <a:spcBef>
                <a:spcPts val="500"/>
              </a:spcBef>
              <a:buFont typeface="Arial" panose="020B0604020202020204" pitchFamily="34" charset="0"/>
              <a:buChar char="•"/>
              <a:defRPr>
                <a:solidFill>
                  <a:srgbClr val="2814FF"/>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000" i="1" dirty="0"/>
              <a:t>Yossi Soroker (2010) 	Yehezkel Dar (2012) </a:t>
            </a:r>
            <a:endParaRPr lang="en-US" sz="2000" dirty="0"/>
          </a:p>
        </p:txBody>
      </p:sp>
    </p:spTree>
    <p:extLst>
      <p:ext uri="{BB962C8B-B14F-4D97-AF65-F5344CB8AC3E}">
        <p14:creationId xmlns:p14="http://schemas.microsoft.com/office/powerpoint/2010/main" val="4256409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98482"/>
            <a:ext cx="10515600" cy="2786334"/>
          </a:xfrm>
        </p:spPr>
        <p:txBody>
          <a:bodyPr>
            <a:normAutofit fontScale="90000"/>
          </a:bodyPr>
          <a:lstStyle/>
          <a:p>
            <a:pPr algn="ctr"/>
            <a:r>
              <a:rPr lang="en-US" sz="5400" dirty="0"/>
              <a:t>Try to think of an educational experience or encounter with an educational figure that changed something in your worldview or life path.</a:t>
            </a:r>
          </a:p>
        </p:txBody>
      </p:sp>
    </p:spTree>
    <p:extLst>
      <p:ext uri="{BB962C8B-B14F-4D97-AF65-F5344CB8AC3E}">
        <p14:creationId xmlns:p14="http://schemas.microsoft.com/office/powerpoint/2010/main" val="720775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9141" y="875360"/>
            <a:ext cx="11158328" cy="655266"/>
          </a:xfrm>
        </p:spPr>
        <p:txBody>
          <a:bodyPr>
            <a:normAutofit fontScale="90000"/>
          </a:bodyPr>
          <a:lstStyle/>
          <a:p>
            <a:pPr algn="l"/>
            <a:r>
              <a:rPr lang="en-US" sz="5400" dirty="0"/>
              <a:t>From Key Experiences to Turning Points</a:t>
            </a:r>
            <a:endParaRPr lang="en-US" sz="5400" dirty="0">
              <a:latin typeface="Anomalia v2 AAA Medium" panose="00000600000000000000" pitchFamily="50" charset="-79"/>
              <a:cs typeface="Anomalia v2 AAA Medium" panose="00000600000000000000" pitchFamily="50" charset="-79"/>
            </a:endParaRPr>
          </a:p>
        </p:txBody>
      </p:sp>
      <p:sp>
        <p:nvSpPr>
          <p:cNvPr id="3" name="מלבן 2">
            <a:extLst>
              <a:ext uri="{FF2B5EF4-FFF2-40B4-BE49-F238E27FC236}">
                <a16:creationId xmlns:a16="http://schemas.microsoft.com/office/drawing/2014/main" id="{960EEF64-88DF-47A0-97B7-674DAB24F074}"/>
              </a:ext>
            </a:extLst>
          </p:cNvPr>
          <p:cNvSpPr/>
          <p:nvPr/>
        </p:nvSpPr>
        <p:spPr>
          <a:xfrm>
            <a:off x="5377069" y="1795377"/>
            <a:ext cx="6132444" cy="4691484"/>
          </a:xfrm>
          <a:prstGeom prst="rect">
            <a:avLst/>
          </a:prstGeom>
        </p:spPr>
        <p:txBody>
          <a:bodyPr vert="horz" lIns="91440" tIns="45720" rIns="91440" bIns="45720" rtlCol="0">
            <a:normAutofit fontScale="92500" lnSpcReduction="10000"/>
          </a:bodyPr>
          <a:lstStyle/>
          <a:p>
            <a:pPr rtl="1">
              <a:lnSpc>
                <a:spcPct val="90000"/>
              </a:lnSpc>
              <a:spcBef>
                <a:spcPts val="1000"/>
              </a:spcBef>
            </a:pPr>
            <a:r>
              <a:rPr lang="en-US" sz="3200" dirty="0"/>
              <a:t>"The most prominent features of key experiences were the authenticity of the organizers or of the content, the relevance of the activity to participants' lives, the challenge it posed, the competitiveness, the surprise, and the element of choice. All of these recurred in many key experiences — in the family, in schools, in non-formal settings, and in the military.”</a:t>
            </a:r>
          </a:p>
          <a:p>
            <a:pPr rtl="1">
              <a:lnSpc>
                <a:spcPct val="90000"/>
              </a:lnSpc>
              <a:spcBef>
                <a:spcPts val="1000"/>
              </a:spcBef>
            </a:pPr>
            <a:r>
              <a:rPr lang="en-US" sz="3200" dirty="0"/>
              <a:t>(Gad Yair, 2006)</a:t>
            </a:r>
            <a:endParaRPr lang="en-IL" sz="3200" dirty="0">
              <a:latin typeface="Anomalia v2 AAA Medium" panose="00000600000000000000" pitchFamily="50" charset="-79"/>
              <a:cs typeface="Anomalia v2 AAA Medium" panose="00000600000000000000" pitchFamily="50" charset="-79"/>
            </a:endParaRPr>
          </a:p>
        </p:txBody>
      </p:sp>
      <p:pic>
        <p:nvPicPr>
          <p:cNvPr id="2052" name="Picture 4" descr="גד יאיר – ויקיפדיה">
            <a:extLst>
              <a:ext uri="{FF2B5EF4-FFF2-40B4-BE49-F238E27FC236}">
                <a16:creationId xmlns:a16="http://schemas.microsoft.com/office/drawing/2014/main" id="{B45287DC-B29B-4E8C-BD02-431968BCEF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140" y="1795377"/>
            <a:ext cx="3119380" cy="4347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07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0035" y="854663"/>
            <a:ext cx="5671930" cy="655266"/>
          </a:xfrm>
        </p:spPr>
        <p:txBody>
          <a:bodyPr>
            <a:normAutofit fontScale="90000"/>
          </a:bodyPr>
          <a:lstStyle/>
          <a:p>
            <a:pPr algn="ctr"/>
            <a:r>
              <a:rPr lang="en-US" sz="5400" dirty="0"/>
              <a:t>Quote from the Book</a:t>
            </a:r>
            <a:endParaRPr lang="en-US" sz="5400" dirty="0">
              <a:latin typeface="Anomalia v2 AAA Medium" panose="00000600000000000000" pitchFamily="50" charset="-79"/>
              <a:cs typeface="Anomalia v2 AAA Medium" panose="00000600000000000000" pitchFamily="50" charset="-79"/>
            </a:endParaRPr>
          </a:p>
        </p:txBody>
      </p:sp>
      <p:pic>
        <p:nvPicPr>
          <p:cNvPr id="2050" name="Picture 2" descr="מחוויות מפתח לנקודת מפנה : על עצמת ההשפעה החינוכית יאיר גד">
            <a:extLst>
              <a:ext uri="{FF2B5EF4-FFF2-40B4-BE49-F238E27FC236}">
                <a16:creationId xmlns:a16="http://schemas.microsoft.com/office/drawing/2014/main" id="{9A55A881-741A-4265-82D6-B5E7E6E363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9479" y="1795376"/>
            <a:ext cx="2839655" cy="4468720"/>
          </a:xfrm>
          <a:prstGeom prst="rect">
            <a:avLst/>
          </a:prstGeom>
          <a:noFill/>
          <a:extLst>
            <a:ext uri="{909E8E84-426E-40DD-AFC4-6F175D3DCCD1}">
              <a14:hiddenFill xmlns:a14="http://schemas.microsoft.com/office/drawing/2010/main">
                <a:solidFill>
                  <a:srgbClr val="FFFFFF"/>
                </a:solidFill>
              </a14:hiddenFill>
            </a:ext>
          </a:extLst>
        </p:spPr>
      </p:pic>
      <p:sp>
        <p:nvSpPr>
          <p:cNvPr id="3" name="מלבן 2">
            <a:extLst>
              <a:ext uri="{FF2B5EF4-FFF2-40B4-BE49-F238E27FC236}">
                <a16:creationId xmlns:a16="http://schemas.microsoft.com/office/drawing/2014/main" id="{960EEF64-88DF-47A0-97B7-674DAB24F074}"/>
              </a:ext>
            </a:extLst>
          </p:cNvPr>
          <p:cNvSpPr/>
          <p:nvPr/>
        </p:nvSpPr>
        <p:spPr>
          <a:xfrm>
            <a:off x="4862456" y="1795376"/>
            <a:ext cx="6647057" cy="4680727"/>
          </a:xfrm>
          <a:prstGeom prst="rect">
            <a:avLst/>
          </a:prstGeom>
        </p:spPr>
        <p:txBody>
          <a:bodyPr vert="horz" lIns="91440" tIns="45720" rIns="91440" bIns="45720" rtlCol="0">
            <a:normAutofit fontScale="85000" lnSpcReduction="20000"/>
          </a:bodyPr>
          <a:lstStyle/>
          <a:p>
            <a:pPr rtl="1">
              <a:lnSpc>
                <a:spcPct val="90000"/>
              </a:lnSpc>
              <a:spcBef>
                <a:spcPts val="1000"/>
              </a:spcBef>
            </a:pPr>
            <a:r>
              <a:rPr lang="en-US" sz="3200" dirty="0"/>
              <a:t>"He suddenly took a flashlight and said to me: 'You're a woman and you're screwed because of that, you're Mizrahi and you're screwed because of that, you're from south Tel Aviv and you're screwed because of that; and there's nothing to be done, unless you fight.' We used to leave his classes shaken. He created an event in the classroom and made me feel that something real was happening, that it was worth dying for something… He was the first man who made me feel that I was finally ready to fight for something, and that something was my place." </a:t>
            </a:r>
          </a:p>
          <a:p>
            <a:pPr rtl="1">
              <a:lnSpc>
                <a:spcPct val="90000"/>
              </a:lnSpc>
              <a:spcBef>
                <a:spcPts val="1000"/>
              </a:spcBef>
            </a:pPr>
            <a:r>
              <a:rPr lang="en-US" sz="3200" dirty="0"/>
              <a:t>(One of the interviews in the book. Cited in: Gad Yair, 2006)</a:t>
            </a:r>
            <a:endParaRPr lang="en-IL" sz="3200" dirty="0">
              <a:latin typeface="Anomalia v2 AAA Medium" panose="00000600000000000000" pitchFamily="50" charset="-79"/>
              <a:cs typeface="Anomalia v2 AAA Medium" panose="00000600000000000000" pitchFamily="50" charset="-79"/>
            </a:endParaRPr>
          </a:p>
        </p:txBody>
      </p:sp>
    </p:spTree>
    <p:extLst>
      <p:ext uri="{BB962C8B-B14F-4D97-AF65-F5344CB8AC3E}">
        <p14:creationId xmlns:p14="http://schemas.microsoft.com/office/powerpoint/2010/main" val="1629356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0343" y="834598"/>
            <a:ext cx="9232457" cy="655266"/>
          </a:xfrm>
        </p:spPr>
        <p:txBody>
          <a:bodyPr>
            <a:normAutofit fontScale="90000"/>
          </a:bodyPr>
          <a:lstStyle/>
          <a:p>
            <a:pPr algn="ctr"/>
            <a:r>
              <a:rPr lang="en-US" sz="5400" dirty="0"/>
              <a:t>The Informal Shall Become Creative</a:t>
            </a:r>
            <a:endParaRPr lang="en-US" sz="5400" dirty="0">
              <a:latin typeface="Anomalia v2 AAA Medium" panose="00000600000000000000" pitchFamily="50" charset="-79"/>
              <a:cs typeface="Anomalia v2 AAA Medium" panose="00000600000000000000" pitchFamily="50" charset="-79"/>
            </a:endParaRPr>
          </a:p>
        </p:txBody>
      </p:sp>
      <p:sp>
        <p:nvSpPr>
          <p:cNvPr id="3" name="מלבן 2">
            <a:extLst>
              <a:ext uri="{FF2B5EF4-FFF2-40B4-BE49-F238E27FC236}">
                <a16:creationId xmlns:a16="http://schemas.microsoft.com/office/drawing/2014/main" id="{960EEF64-88DF-47A0-97B7-674DAB24F074}"/>
              </a:ext>
            </a:extLst>
          </p:cNvPr>
          <p:cNvSpPr/>
          <p:nvPr/>
        </p:nvSpPr>
        <p:spPr>
          <a:xfrm>
            <a:off x="5335972" y="1777427"/>
            <a:ext cx="6132444" cy="4720975"/>
          </a:xfrm>
          <a:prstGeom prst="rect">
            <a:avLst/>
          </a:prstGeom>
        </p:spPr>
        <p:txBody>
          <a:bodyPr vert="horz" lIns="91440" tIns="45720" rIns="91440" bIns="45720" rtlCol="0">
            <a:normAutofit fontScale="92500" lnSpcReduction="10000"/>
          </a:bodyPr>
          <a:lstStyle/>
          <a:p>
            <a:r>
              <a:rPr lang="en-US" dirty="0"/>
              <a:t>"And when Abraham our father came and looked and saw and investigated and understood and carved and carved and joined and formed and ascended with his hand, the Lord of all appeared to him, sat him in his bosom and kissed him on the head, called him his beloved and named him by his name, and made a covenant with him, to him and to his seed after him forever."</a:t>
            </a:r>
            <a:br>
              <a:rPr lang="en-US" dirty="0"/>
            </a:br>
            <a:endParaRPr lang="en-US" dirty="0"/>
          </a:p>
          <a:p>
            <a:r>
              <a:rPr lang="en-US" dirty="0"/>
              <a:t>(Book of Creation, 6:8)</a:t>
            </a:r>
          </a:p>
          <a:p>
            <a:br>
              <a:rPr lang="en-US" dirty="0"/>
            </a:br>
            <a:endParaRPr lang="en-US" dirty="0"/>
          </a:p>
          <a:p>
            <a:r>
              <a:rPr lang="en-US" dirty="0"/>
              <a:t>"How difficult it was to conclude from this concept that informal action is actually the action practiced among the human world from the beginning of its existence, long before the existence of fixed formulas and formulas of any kind. How difficult it was to understand that the very idea that stands for this mode of action and thought far precedes the formation of formal modes of thought and action."</a:t>
            </a:r>
            <a:br>
              <a:rPr lang="en-US" dirty="0"/>
            </a:br>
            <a:endParaRPr lang="en-US" dirty="0"/>
          </a:p>
          <a:p>
            <a:r>
              <a:rPr lang="en-US" dirty="0"/>
              <a:t>(Shani Oren, 'The informal will be creative')</a:t>
            </a:r>
          </a:p>
        </p:txBody>
      </p:sp>
      <p:pic>
        <p:nvPicPr>
          <p:cNvPr id="1026" name="Picture 2" descr="undefined">
            <a:extLst>
              <a:ext uri="{FF2B5EF4-FFF2-40B4-BE49-F238E27FC236}">
                <a16:creationId xmlns:a16="http://schemas.microsoft.com/office/drawing/2014/main" id="{DD3C07A3-D8E4-45E8-BA45-8FFD73374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2406" y="1777428"/>
            <a:ext cx="3898083" cy="472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224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30" y="1"/>
            <a:ext cx="12177070" cy="6858000"/>
          </a:xfrm>
          <a:prstGeom prst="rect">
            <a:avLst/>
          </a:prstGeom>
        </p:spPr>
      </p:pic>
      <p:sp>
        <p:nvSpPr>
          <p:cNvPr id="5" name="מלבן 4"/>
          <p:cNvSpPr/>
          <p:nvPr/>
        </p:nvSpPr>
        <p:spPr>
          <a:xfrm>
            <a:off x="3367144" y="2415619"/>
            <a:ext cx="5282004" cy="2026762"/>
          </a:xfrm>
          <a:prstGeom prst="rect">
            <a:avLst/>
          </a:prstGeom>
          <a:solidFill>
            <a:srgbClr val="281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188860" y="2875002"/>
            <a:ext cx="12265334" cy="110799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FFFFFF"/>
                </a:solidFill>
                <a:effectLst/>
                <a:uLnTx/>
                <a:uFillTx/>
                <a:latin typeface="Anomalia v2 AAA Medium" panose="00000600000000000000" pitchFamily="50" charset="-79"/>
                <a:cs typeface="Anomalia v2 AAA Medium" panose="00000600000000000000" pitchFamily="50" charset="-79"/>
              </a:rPr>
              <a:t>Thank You!</a:t>
            </a:r>
            <a:endParaRPr kumimoji="0" lang="en-US" sz="7200" b="0" i="0" u="none" strike="noStrike" kern="1200" cap="none" spc="0" normalizeH="0" baseline="0" noProof="0" dirty="0">
              <a:ln>
                <a:noFill/>
              </a:ln>
              <a:solidFill>
                <a:srgbClr val="FFFFFF"/>
              </a:solidFill>
              <a:effectLst/>
              <a:uLnTx/>
              <a:uFillTx/>
              <a:latin typeface="Anomalia v2 AAA Medium" panose="00000600000000000000" pitchFamily="50" charset="-79"/>
              <a:cs typeface="Anomalia v2 AAA Medium" panose="00000600000000000000" pitchFamily="50" charset="-79"/>
            </a:endParaRPr>
          </a:p>
        </p:txBody>
      </p:sp>
    </p:spTree>
    <p:extLst>
      <p:ext uri="{BB962C8B-B14F-4D97-AF65-F5344CB8AC3E}">
        <p14:creationId xmlns:p14="http://schemas.microsoft.com/office/powerpoint/2010/main" val="1794305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86A2AAB-82E5-4AD8-9418-3A274B07AD55}" vid="{81428A5C-E679-4564-B23E-55BCC1FB3BBF}"/>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E1EC8EF0BC81499A81AFC01EAB5204" ma:contentTypeVersion="9" ma:contentTypeDescription="Create a new document." ma:contentTypeScope="" ma:versionID="9239b7d79601714157c99f2dda0ce7aa">
  <xsd:schema xmlns:xsd="http://www.w3.org/2001/XMLSchema" xmlns:xs="http://www.w3.org/2001/XMLSchema" xmlns:p="http://schemas.microsoft.com/office/2006/metadata/properties" xmlns:ns3="59511842-715e-4ad7-97e3-f28a04a1521b" targetNamespace="http://schemas.microsoft.com/office/2006/metadata/properties" ma:root="true" ma:fieldsID="d9a1f427490d48da506d1b213b2433a3" ns3:_="">
    <xsd:import namespace="59511842-715e-4ad7-97e3-f28a04a1521b"/>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511842-715e-4ad7-97e3-f28a04a152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DE7E7C-B4B8-4539-8830-59325564C51B}">
  <ds:schemaRefs>
    <ds:schemaRef ds:uri="59511842-715e-4ad7-97e3-f28a04a1521b"/>
    <ds:schemaRef ds:uri="http://schemas.microsoft.com/office/2006/documentManagement/types"/>
    <ds:schemaRef ds:uri="http://purl.org/dc/elements/1.1/"/>
    <ds:schemaRef ds:uri="http://purl.org/dc/terms/"/>
    <ds:schemaRef ds:uri="http://schemas.openxmlformats.org/package/2006/metadata/core-properties"/>
    <ds:schemaRef ds:uri="http://purl.org/dc/dcmitype/"/>
    <ds:schemaRef ds:uri="http://schemas.microsoft.com/office/2006/metadata/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CAC7AD19-8F0D-4C78-8975-898B73DC62E1}">
  <ds:schemaRefs>
    <ds:schemaRef ds:uri="http://schemas.microsoft.com/sharepoint/v3/contenttype/forms"/>
  </ds:schemaRefs>
</ds:datastoreItem>
</file>

<file path=customXml/itemProps3.xml><?xml version="1.0" encoding="utf-8"?>
<ds:datastoreItem xmlns:ds="http://schemas.openxmlformats.org/officeDocument/2006/customXml" ds:itemID="{A4E040CE-AE77-46C2-9A52-99FD56A763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511842-715e-4ad7-97e3-f28a04a152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טמפלייט עברית</Template>
  <TotalTime>723</TotalTime>
  <Words>1177</Words>
  <Application>Microsoft Macintosh PowerPoint</Application>
  <PresentationFormat>Widescreen</PresentationFormat>
  <Paragraphs>63</Paragraphs>
  <Slides>23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Anomalia ML v2 AAA</vt:lpstr>
      <vt:lpstr>Anomalia v2 AAA Medium</vt:lpstr>
      <vt:lpstr>Aptos</vt:lpstr>
      <vt:lpstr>Arial</vt:lpstr>
      <vt:lpstr>Calibri</vt:lpstr>
      <vt:lpstr>Calibri Light</vt:lpstr>
      <vt:lpstr>Office Theme</vt:lpstr>
      <vt:lpstr>ערכת נושא Office</vt:lpstr>
      <vt:lpstr>The Informal Code and Key Experiences</vt:lpstr>
      <vt:lpstr>Opening Question</vt:lpstr>
      <vt:lpstr>Strange Answer</vt:lpstr>
      <vt:lpstr>A Little About Me</vt:lpstr>
      <vt:lpstr>Who here was a member of a youth movement or youth organization?   What was your most meaningful experience there?</vt:lpstr>
      <vt:lpstr>Youth</vt:lpstr>
      <vt:lpstr>Wandervogel - Wandering Bird </vt:lpstr>
      <vt:lpstr>Developing the Informal Code Code</vt:lpstr>
      <vt:lpstr>1. Voluntarism</vt:lpstr>
      <vt:lpstr>2. Multidimensionality</vt:lpstr>
      <vt:lpstr>3. Symmetry</vt:lpstr>
      <vt:lpstr>4. Dualism</vt:lpstr>
      <vt:lpstr>5. Moratorium</vt:lpstr>
      <vt:lpstr>6. Modularity</vt:lpstr>
      <vt:lpstr>7. Expressive Instrumentalism</vt:lpstr>
      <vt:lpstr>8. Pragmatic Symbolism</vt:lpstr>
      <vt:lpstr>How many components of the code did you experience in the course of your work in education?  Both as educators/teachers and as students/youth.</vt:lpstr>
      <vt:lpstr>PowerPoint Presentation</vt:lpstr>
      <vt:lpstr>Try to think of an educational experience or encounter with an educational figure that changed something in your worldview or life path.</vt:lpstr>
      <vt:lpstr>From Key Experiences to Turning Points</vt:lpstr>
      <vt:lpstr>Quote from the Book</vt:lpstr>
      <vt:lpstr>The Informal Shall Become Creative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Ominsky, Avery</cp:lastModifiedBy>
  <cp:revision>33</cp:revision>
  <dcterms:created xsi:type="dcterms:W3CDTF">2021-01-10T22:09:36Z</dcterms:created>
  <dcterms:modified xsi:type="dcterms:W3CDTF">2026-06-09T11:52:43Z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0x01010078E1EC8EF0BC81499A81AFC01EAB5204</vt:lpwstr>
  </property>
</Properties>
</file>